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60" r:id="rId6"/>
    <p:sldId id="261" r:id="rId7"/>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9916f80d-5a62-915c-a1d1-103a631a0d7c}">
          <p14:sldIdLst>
            <p14:sldId id="256"/>
          </p14:sldIdLst>
        </p14:section>
        <p14:section name="Chapter 1" id="{116ee1eb-8114-6e62-a168-3c91160515ea}">
          <p14:sldIdLst>
            <p14:sldId id="257"/>
            <p14:sldId id="258"/>
            <p14:sldId id="259"/>
            <p14:sldId id="260"/>
            <p14:sldId id="261"/>
          </p14:sldIdLst>
        </p14:section>
        <p14:section name="Chapter 2" id="{4ac8af62-5c83-e11f-ba35-3655a460af87}">
          <p14:sldIdLst>
            <p14:sldId id="262"/>
            <p14:sldId id="263"/>
            <p14:sldId id="264"/>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6" Type="http://schemas.openxmlformats.org/officeDocument/2006/relationships/slide" Target="slides/slide5.xml"/><Relationship Id="rId7" Type="http://schemas.openxmlformats.org/officeDocument/2006/relationships/slide" Target="slides/slide6.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This presentation summarises two chapters of Research Methodology. Chapter 1 explains what research is, its types, the research process, and how to frame a problem, objectives and hypothesis. Chapter 2 explains how to review literature, plan the research design, choose a sample, collect data, and keep that data reliable and well organised.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Research means a careful, step-by-step search for knowledge or for the answer to a problem. Its objectives are to explore, describe, explain, and predict or solve problems. It is important because it adds to knowledge, helps in better decisions, solves real problems and drives technology. Good research is systematic and logical, objective and based on evidence, can be repeated by others, and is original and ethical.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choose a research problem. A good problem is relevant, original, measurable and practical for our time and budget. Then we write a problem statement, a short clear description of what we will study and why. Next come objectives, which say what we aim to do, and research questions, which say what we want to answer. Finally we identify variables: the independent variable is the cause, the dependent variable is the effect, and control variables are kept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hypothesis is a testable statement about the relationship between variables. The null hypothesis, H0, says there is no effect. The alternative hypothesis, H1, says there is an effect. A hypothesis can be directional, predicting the direction, or non-directional. For example: H0, study hours do not affect marks; H1, more study hours raise marks. A research proposal brings everything together: title and introduction, problem statement, objectives and hypothesis, literature review, methodology, timeline and budget, and references.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can be primary or secondary. Primary data is collected first-hand by the researcher. Secondary data was already collected by someone else, such as reports, journals and databases. The main tools for primary data are: a questionnaire, which is a set of written questions for many people; an interview, which is a conversation for detailed answers; observation, which means watching and recording behaviour; and an experiment, where one variable is changed to see its effect.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finish, three ideas decide the quality of data. Reliability means the results stay consistent when the study is repeated. Validity means we measure what we intend to measure. Bias is unfair influence, for example leading questions or a poor sample, and we must avoid it. Finally, organise and document the data: clean it, label it clearly, back it up and record every source. In short, Chapter 1 teaches how to frame a research problem, and Chapter 2 teaches how to review literature, design the study and collect good data. Thank you, I am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640080" y="1188720"/>
            <a:ext cx="4937760" cy="137160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4" name="Text 1"/>
          <p:cNvSpPr/>
          <p:nvPr>
            <p:ph idx="102" type="body" hasCustomPrompt="1"/>
          </p:nvPr>
        </p:nvSpPr>
        <p:spPr>
          <a:xfrm>
            <a:off x="640080" y="2743200"/>
            <a:ext cx="4754880" cy="1188720"/>
          </a:xfrm>
          <a:prstGeom prst="rect">
            <a:avLst/>
          </a:prstGeom>
          <a:noFill/>
          <a:ln/>
        </p:spPr>
        <p:txBody>
          <a:bodyPr wrap="square" rtlCol="0"/>
          <a:lstStyle>
            <a:lvl1pPr indent="0" marL="0">
              <a:buNone/>
              <a:defRPr lang="en-US" sz="1600" dirty="0">
                <a:solidFill>
                  <a:schemeClr val="bg2"/>
                </a:solidFill>
              </a:defRPr>
            </a:lvl1pPr>
          </a:lstStyle>
          <a:p>
            <a:pPr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1">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4736592"/>
            <a:ext cx="5486400" cy="228600"/>
          </a:xfrm>
          <a:prstGeom prst="rect">
            <a:avLst/>
          </a:prstGeom>
          <a:noFill/>
          <a:ln/>
        </p:spPr>
        <p:txBody>
          <a:bodyPr wrap="square" lIns="0" tIns="0" rIns="0" bIns="0" rtlCol="0" anchor="ctr"/>
          <a:lstStyle/>
          <a:p>
            <a:pPr indent="0" marL="0">
              <a:buNone/>
            </a:pPr>
            <a:r>
              <a:rPr lang="en-US" sz="1000" dirty="0">
                <a:solidFill>
                  <a:schemeClr val="accent6"/>
                </a:solidFill>
              </a:rPr>
              <a:t>Research Methodology  |  Chapter 1: Introduction to Research Methodology</a:t>
            </a:r>
            <a:endParaRPr lang="en-US" sz="10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H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548640" y="4736592"/>
            <a:ext cx="5486400" cy="228600"/>
          </a:xfrm>
          <a:prstGeom prst="rect">
            <a:avLst/>
          </a:prstGeom>
          <a:noFill/>
          <a:ln/>
        </p:spPr>
        <p:txBody>
          <a:bodyPr wrap="square" lIns="0" tIns="0" rIns="0" bIns="0" rtlCol="0" anchor="ctr"/>
          <a:lstStyle/>
          <a:p>
            <a:pPr indent="0" marL="0">
              <a:buNone/>
            </a:pPr>
            <a:r>
              <a:rPr lang="en-US" sz="1000" dirty="0">
                <a:solidFill>
                  <a:schemeClr val="accent6"/>
                </a:solidFill>
              </a:rPr>
              <a:t>Research Methodology  |  Chapter 2: Literature Review, Design and Data Collection</a:t>
            </a:r>
            <a:endParaRPr lang="en-US" sz="10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chemeClr val="tx1"/>
          </a:solidFill>
          <a:ln/>
        </p:spPr>
      </p:sp>
      <p:sp>
        <p:nvSpPr>
          <p:cNvPr id="3" name="Text 1"/>
          <p:cNvSpPr/>
          <p:nvPr>
            <p:ph idx="101" type="title" hasCustomPrompt="1"/>
          </p:nvPr>
        </p:nvSpPr>
        <p:spPr>
          <a:xfrm>
            <a:off x="548640" y="274320"/>
            <a:ext cx="8046720" cy="731520"/>
          </a:xfrm>
          <a:prstGeom prst="rect">
            <a:avLst/>
          </a:prstGeom>
          <a:noFill/>
          <a:ln/>
        </p:spPr>
        <p:txBody>
          <a:bodyPr wrap="square" rtlCol="0"/>
          <a:lstStyle>
            <a:lvl1pPr algn="l" indent="0" marL="0">
              <a:buNone/>
              <a:defRPr lang="en-US" sz="3400" b="1" dirty="0">
                <a:solidFill>
                  <a:schemeClr val="bg1"/>
                </a:solidFill>
              </a:defRPr>
            </a:lvl1pPr>
          </a:lstStyle>
          <a:p>
            <a:pPr algn="l" indent="0" marL="0">
              <a:buNone/>
            </a:pPr>
            <a:endParaRPr lang="en-US" sz="3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4.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5.xml"/><Relationship Id="rId6"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731520"/>
            <a:ext cx="5120640" cy="274320"/>
          </a:xfrm>
          <a:prstGeom prst="rect">
            <a:avLst/>
          </a:prstGeom>
          <a:noFill/>
          <a:ln/>
        </p:spPr>
        <p:txBody>
          <a:bodyPr wrap="square" lIns="0" tIns="0" rIns="0" bIns="0" rtlCol="0" anchor="ctr"/>
          <a:lstStyle/>
          <a:p>
            <a:pPr indent="0" marL="0">
              <a:buNone/>
            </a:pPr>
            <a:r>
              <a:rPr lang="en-US" sz="1200" b="1" spc="300" kern="0" dirty="0">
                <a:solidFill>
                  <a:schemeClr val="accent1"/>
                </a:solidFill>
              </a:rPr>
              <a:t>BCA SEMESTER 7  ·  SUMMARY OF CHAPTERS 1 AND 2</a:t>
            </a:r>
            <a:endParaRPr lang="en-US" sz="1200" dirty="0"/>
          </a:p>
        </p:txBody>
      </p:sp>
      <p:sp>
        <p:nvSpPr>
          <p:cNvPr id="3" name="Text 1"/>
          <p:cNvSpPr/>
          <p:nvPr>
            <p:ph idx="101" type="title" hasCustomPrompt="1"/>
          </p:nvPr>
        </p:nvSpPr>
        <p:spPr>
          <a:xfrm>
            <a:off x="640080" y="1188720"/>
            <a:ext cx="4937760" cy="1371600"/>
          </a:xfrm>
          <a:prstGeom prst="rect">
            <a:avLst/>
          </a:prstGeom>
          <a:noFill/>
          <a:ln/>
        </p:spPr>
        <p:txBody>
          <a:bodyPr wrap="square" lIns="0" tIns="0" rIns="0" bIns="0" rtlCol="0" anchor="b"/>
          <a:lstStyle/>
          <a:p>
            <a:pPr algn="l" indent="0" marL="0">
              <a:buNone/>
            </a:pPr>
            <a:r>
              <a:rPr lang="en-US" sz="3600" b="1" dirty="0">
                <a:solidFill>
                  <a:schemeClr val="bg1"/>
                </a:solidFill>
              </a:rPr>
              <a:t>Research Methodology</a:t>
            </a:r>
            <a:endParaRPr lang="en-US" sz="3600" dirty="0"/>
          </a:p>
        </p:txBody>
      </p:sp>
      <p:sp>
        <p:nvSpPr>
          <p:cNvPr id="4" name="Text 1"/>
          <p:cNvSpPr/>
          <p:nvPr>
            <p:ph idx="102" type="body" hasCustomPrompt="1"/>
          </p:nvPr>
        </p:nvSpPr>
        <p:spPr>
          <a:xfrm>
            <a:off x="640080" y="2743200"/>
            <a:ext cx="4754880" cy="1188720"/>
          </a:xfrm>
          <a:prstGeom prst="rect">
            <a:avLst/>
          </a:prstGeom>
          <a:noFill/>
          <a:ln/>
        </p:spPr>
        <p:txBody>
          <a:bodyPr wrap="square" lIns="0" tIns="0" rIns="0" bIns="0" rtlCol="0" anchor="t"/>
          <a:lstStyle/>
          <a:p>
            <a:pPr indent="0" marL="0">
              <a:spcAft>
                <a:spcPts val="600"/>
              </a:spcAft>
              <a:buNone/>
            </a:pPr>
            <a:r>
              <a:rPr lang="en-US" sz="1600" dirty="0">
                <a:solidFill>
                  <a:schemeClr val="bg2"/>
                </a:solidFill>
              </a:rPr>
              <a:t>Chapter 1: Introduction to Research Methodology</a:t>
            </a:r>
            <a:endParaRPr lang="en-US" sz="1600" dirty="0"/>
          </a:p>
          <a:p>
            <a:pPr indent="0" marL="0">
              <a:buNone/>
            </a:pPr>
            <a:r>
              <a:rPr lang="en-US" sz="1600" dirty="0">
                <a:solidFill>
                  <a:schemeClr val="bg2"/>
                </a:solidFill>
              </a:rPr>
              <a:t>Chapter 2: Literature Review, Research Design and Data Collection</a:t>
            </a:r>
            <a:endParaRPr lang="en-US" sz="1600" dirty="0"/>
          </a:p>
        </p:txBody>
      </p:sp>
      <p:sp>
        <p:nvSpPr>
          <p:cNvPr id="5" name="Outer ring"/>
          <p:cNvSpPr/>
          <p:nvPr/>
        </p:nvSpPr>
        <p:spPr>
          <a:xfrm>
            <a:off x="5486400" y="822960"/>
            <a:ext cx="3474720" cy="3474720"/>
          </a:xfrm>
          <a:prstGeom prst="ellipse">
            <a:avLst/>
          </a:prstGeom>
          <a:solidFill>
            <a:schemeClr val="accent3">
              <a:alpha val="20000"/>
            </a:schemeClr>
          </a:solidFill>
          <a:ln/>
        </p:spPr>
      </p:sp>
      <p:sp>
        <p:nvSpPr>
          <p:cNvPr id="6" name="Middle ring"/>
          <p:cNvSpPr/>
          <p:nvPr/>
        </p:nvSpPr>
        <p:spPr>
          <a:xfrm>
            <a:off x="5943600" y="1280160"/>
            <a:ext cx="2560320" cy="2560320"/>
          </a:xfrm>
          <a:prstGeom prst="ellipse">
            <a:avLst/>
          </a:prstGeom>
          <a:solidFill>
            <a:schemeClr val="accent2">
              <a:alpha val="35000"/>
            </a:schemeClr>
          </a:solidFill>
          <a:ln/>
        </p:spPr>
      </p:sp>
      <p:sp>
        <p:nvSpPr>
          <p:cNvPr id="7" name="Core circle"/>
          <p:cNvSpPr/>
          <p:nvPr/>
        </p:nvSpPr>
        <p:spPr>
          <a:xfrm>
            <a:off x="6492240" y="1828800"/>
            <a:ext cx="1463040" cy="1463040"/>
          </a:xfrm>
          <a:prstGeom prst="ellipse">
            <a:avLst/>
          </a:prstGeom>
          <a:solidFill>
            <a:schemeClr val="accent1"/>
          </a:solidFill>
          <a:ln/>
        </p:spPr>
      </p:sp>
      <p:pic>
        <p:nvPicPr>
          <p:cNvPr id="8" name="Image 0" descr="Flask icon">    </p:cNvPr>
          <p:cNvPicPr>
            <a:picLocks noChangeAspect="1"/>
          </p:cNvPicPr>
          <p:nvPr/>
        </p:nvPicPr>
        <p:blipFill>
          <a:blip r:embed="rId1"/>
          <a:stretch>
            <a:fillRect/>
          </a:stretch>
        </p:blipFill>
        <p:spPr>
          <a:xfrm>
            <a:off x="6858000" y="2194560"/>
            <a:ext cx="731520" cy="731520"/>
          </a:xfrm>
          <a:prstGeom prst="rect">
            <a:avLst/>
          </a:prstGeom>
        </p:spPr>
      </p:pic>
      <p:sp>
        <p:nvSpPr>
          <p:cNvPr id="9" name="Literature icon circle"/>
          <p:cNvSpPr/>
          <p:nvPr/>
        </p:nvSpPr>
        <p:spPr>
          <a:xfrm>
            <a:off x="5440680" y="1463040"/>
            <a:ext cx="548640" cy="548640"/>
          </a:xfrm>
          <a:prstGeom prst="ellipse">
            <a:avLst/>
          </a:prstGeom>
          <a:solidFill>
            <a:schemeClr val="accent2"/>
          </a:solidFill>
          <a:ln/>
        </p:spPr>
      </p:sp>
      <p:pic>
        <p:nvPicPr>
          <p:cNvPr id="10" name="Image 1" descr="Literature icon">    </p:cNvPr>
          <p:cNvPicPr>
            <a:picLocks noChangeAspect="1"/>
          </p:cNvPicPr>
          <p:nvPr/>
        </p:nvPicPr>
        <p:blipFill>
          <a:blip r:embed="rId2"/>
          <a:stretch>
            <a:fillRect/>
          </a:stretch>
        </p:blipFill>
        <p:spPr>
          <a:xfrm>
            <a:off x="5577840" y="1600200"/>
            <a:ext cx="274320" cy="274320"/>
          </a:xfrm>
          <a:prstGeom prst="rect">
            <a:avLst/>
          </a:prstGeom>
        </p:spPr>
      </p:pic>
      <p:sp>
        <p:nvSpPr>
          <p:cNvPr id="11" name="Data icon circle"/>
          <p:cNvSpPr/>
          <p:nvPr/>
        </p:nvSpPr>
        <p:spPr>
          <a:xfrm>
            <a:off x="8458200" y="1554480"/>
            <a:ext cx="548640" cy="548640"/>
          </a:xfrm>
          <a:prstGeom prst="ellipse">
            <a:avLst/>
          </a:prstGeom>
          <a:solidFill>
            <a:schemeClr val="accent3"/>
          </a:solidFill>
          <a:ln/>
        </p:spPr>
      </p:sp>
      <p:pic>
        <p:nvPicPr>
          <p:cNvPr id="12" name="Image 2" descr="Data icon">    </p:cNvPr>
          <p:cNvPicPr>
            <a:picLocks noChangeAspect="1"/>
          </p:cNvPicPr>
          <p:nvPr/>
        </p:nvPicPr>
        <p:blipFill>
          <a:blip r:embed="rId3"/>
          <a:stretch>
            <a:fillRect/>
          </a:stretch>
        </p:blipFill>
        <p:spPr>
          <a:xfrm>
            <a:off x="8595360" y="1691640"/>
            <a:ext cx="274320" cy="274320"/>
          </a:xfrm>
          <a:prstGeom prst="rect">
            <a:avLst/>
          </a:prstGeom>
        </p:spPr>
      </p:pic>
      <p:sp>
        <p:nvSpPr>
          <p:cNvPr id="13" name="Questionnaire icon circle"/>
          <p:cNvSpPr/>
          <p:nvPr/>
        </p:nvSpPr>
        <p:spPr>
          <a:xfrm>
            <a:off x="6949440" y="4069080"/>
            <a:ext cx="548640" cy="548640"/>
          </a:xfrm>
          <a:prstGeom prst="ellipse">
            <a:avLst/>
          </a:prstGeom>
          <a:solidFill>
            <a:schemeClr val="accent4"/>
          </a:solidFill>
          <a:ln/>
        </p:spPr>
      </p:sp>
      <p:pic>
        <p:nvPicPr>
          <p:cNvPr id="14" name="Image 3" descr="Questionnaire icon">    </p:cNvPr>
          <p:cNvPicPr>
            <a:picLocks noChangeAspect="1"/>
          </p:cNvPicPr>
          <p:nvPr/>
        </p:nvPicPr>
        <p:blipFill>
          <a:blip r:embed="rId4"/>
          <a:stretch>
            <a:fillRect/>
          </a:stretch>
        </p:blipFill>
        <p:spPr>
          <a:xfrm>
            <a:off x="7086600" y="4206240"/>
            <a:ext cx="274320" cy="2743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What is Research?</a:t>
            </a:r>
            <a:endParaRPr lang="en-US" sz="3400" dirty="0"/>
          </a:p>
        </p:txBody>
      </p:sp>
      <p:sp>
        <p:nvSpPr>
          <p:cNvPr id="3" name="Definition banner"/>
          <p:cNvSpPr/>
          <p:nvPr/>
        </p:nvSpPr>
        <p:spPr>
          <a:xfrm>
            <a:off x="548640" y="1143000"/>
            <a:ext cx="8046720" cy="731520"/>
          </a:xfrm>
          <a:prstGeom prst="roundRect">
            <a:avLst>
              <a:gd name="adj" fmla="val 15000"/>
            </a:avLst>
          </a:prstGeom>
          <a:solidFill>
            <a:schemeClr val="tx1"/>
          </a:solidFill>
          <a:ln/>
          <a:effectLst>
            <a:outerShdw sx="100000" sy="100000" kx="0" ky="0" algn="bl" rotWithShape="0" blurRad="101600" dist="25400" dir="5400000">
              <a:srgbClr val="000000">
                <a:alpha val="12000"/>
              </a:srgbClr>
            </a:outerShdw>
          </a:effectLst>
        </p:spPr>
      </p:sp>
      <p:sp>
        <p:nvSpPr>
          <p:cNvPr id="4" name="Text 2"/>
          <p:cNvSpPr txBox="1"/>
          <p:nvPr/>
        </p:nvSpPr>
        <p:spPr>
          <a:xfrm>
            <a:off x="822960" y="1143000"/>
            <a:ext cx="7498080" cy="731520"/>
          </a:xfrm>
          <a:prstGeom prst="rect">
            <a:avLst/>
          </a:prstGeom>
          <a:noFill/>
          <a:ln/>
        </p:spPr>
        <p:txBody>
          <a:bodyPr wrap="square" lIns="0" tIns="0" rIns="0" bIns="0" rtlCol="0" anchor="ctr"/>
          <a:lstStyle/>
          <a:p>
            <a:pPr indent="0" marL="0">
              <a:buNone/>
            </a:pPr>
            <a:r>
              <a:rPr lang="en-US" sz="1800" b="1" dirty="0">
                <a:solidFill>
                  <a:schemeClr val="bg1"/>
                </a:solidFill>
              </a:rPr>
              <a:t>Research is a systematic search for new knowledge and answers.</a:t>
            </a:r>
            <a:endParaRPr lang="en-US" sz="1800" dirty="0"/>
          </a:p>
        </p:txBody>
      </p:sp>
      <p:sp>
        <p:nvSpPr>
          <p:cNvPr id="5" name="Objectives card"/>
          <p:cNvSpPr/>
          <p:nvPr/>
        </p:nvSpPr>
        <p:spPr>
          <a:xfrm>
            <a:off x="548640" y="2057400"/>
            <a:ext cx="2560320" cy="2468880"/>
          </a:xfrm>
          <a:prstGeom prst="roundRect">
            <a:avLst>
              <a:gd name="adj" fmla="val 4444"/>
            </a:avLst>
          </a:prstGeom>
          <a:solidFill>
            <a:schemeClr val="bg2"/>
          </a:solidFill>
          <a:ln/>
        </p:spPr>
      </p:sp>
      <p:sp>
        <p:nvSpPr>
          <p:cNvPr id="6" name="Objectives circle"/>
          <p:cNvSpPr/>
          <p:nvPr/>
        </p:nvSpPr>
        <p:spPr>
          <a:xfrm>
            <a:off x="731520" y="2194560"/>
            <a:ext cx="502920" cy="502920"/>
          </a:xfrm>
          <a:prstGeom prst="ellipse">
            <a:avLst/>
          </a:prstGeom>
          <a:solidFill>
            <a:schemeClr val="accent2"/>
          </a:solidFill>
          <a:ln/>
        </p:spPr>
      </p:sp>
      <p:pic>
        <p:nvPicPr>
          <p:cNvPr id="7" name="Image 0" descr="Objectives">    </p:cNvPr>
          <p:cNvPicPr>
            <a:picLocks noChangeAspect="1"/>
          </p:cNvPicPr>
          <p:nvPr/>
        </p:nvPicPr>
        <p:blipFill>
          <a:blip r:embed="rId1"/>
          <a:stretch>
            <a:fillRect/>
          </a:stretch>
        </p:blipFill>
        <p:spPr>
          <a:xfrm>
            <a:off x="857250" y="2320290"/>
            <a:ext cx="251460" cy="251460"/>
          </a:xfrm>
          <a:prstGeom prst="rect">
            <a:avLst/>
          </a:prstGeom>
        </p:spPr>
      </p:pic>
      <p:sp>
        <p:nvSpPr>
          <p:cNvPr id="8" name="Text 5"/>
          <p:cNvSpPr txBox="1"/>
          <p:nvPr/>
        </p:nvSpPr>
        <p:spPr>
          <a:xfrm>
            <a:off x="1371600" y="2194560"/>
            <a:ext cx="1645920" cy="502920"/>
          </a:xfrm>
          <a:prstGeom prst="rect">
            <a:avLst/>
          </a:prstGeom>
          <a:noFill/>
          <a:ln/>
        </p:spPr>
        <p:txBody>
          <a:bodyPr wrap="square" lIns="0" tIns="0" rIns="0" bIns="0" rtlCol="0" anchor="ctr"/>
          <a:lstStyle/>
          <a:p>
            <a:pPr indent="0" marL="0">
              <a:buNone/>
            </a:pPr>
            <a:r>
              <a:rPr lang="en-US" sz="1600" b="1" dirty="0">
                <a:solidFill>
                  <a:schemeClr val="tx1"/>
                </a:solidFill>
              </a:rPr>
              <a:t>Objectives</a:t>
            </a:r>
            <a:endParaRPr lang="en-US" sz="1600" dirty="0"/>
          </a:p>
        </p:txBody>
      </p:sp>
      <p:sp>
        <p:nvSpPr>
          <p:cNvPr id="9" name="Text 6"/>
          <p:cNvSpPr txBox="1"/>
          <p:nvPr/>
        </p:nvSpPr>
        <p:spPr>
          <a:xfrm>
            <a:off x="777240" y="2880360"/>
            <a:ext cx="2194560" cy="15544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Explore new topics</a:t>
            </a:r>
            <a:endParaRPr lang="en-US" sz="1400" dirty="0"/>
          </a:p>
          <a:p>
            <a:pPr marL="342900" indent="-342900">
              <a:spcAft>
                <a:spcPts val="500"/>
              </a:spcAft>
              <a:buSzPct val="100000"/>
              <a:buChar char="•"/>
            </a:pPr>
            <a:r>
              <a:rPr lang="en-US" sz="1400" dirty="0">
                <a:solidFill>
                  <a:schemeClr val="tx1"/>
                </a:solidFill>
              </a:rPr>
              <a:t>Describe situations</a:t>
            </a:r>
            <a:endParaRPr lang="en-US" sz="1400" dirty="0"/>
          </a:p>
          <a:p>
            <a:pPr marL="342900" indent="-342900">
              <a:spcAft>
                <a:spcPts val="500"/>
              </a:spcAft>
              <a:buSzPct val="100000"/>
              <a:buChar char="•"/>
            </a:pPr>
            <a:r>
              <a:rPr lang="en-US" sz="1400" dirty="0">
                <a:solidFill>
                  <a:schemeClr val="tx1"/>
                </a:solidFill>
              </a:rPr>
              <a:t>Explain causes</a:t>
            </a:r>
            <a:endParaRPr lang="en-US" sz="1400" dirty="0"/>
          </a:p>
          <a:p>
            <a:pPr marL="342900" indent="-342900">
              <a:spcAft>
                <a:spcPts val="500"/>
              </a:spcAft>
              <a:buSzPct val="100000"/>
              <a:buChar char="•"/>
            </a:pPr>
            <a:r>
              <a:rPr lang="en-US" sz="1400" dirty="0">
                <a:solidFill>
                  <a:schemeClr val="tx1"/>
                </a:solidFill>
              </a:rPr>
              <a:t>Solve problems</a:t>
            </a:r>
            <a:endParaRPr lang="en-US" sz="1400" dirty="0"/>
          </a:p>
        </p:txBody>
      </p:sp>
      <p:sp>
        <p:nvSpPr>
          <p:cNvPr id="10" name="Significance card"/>
          <p:cNvSpPr/>
          <p:nvPr/>
        </p:nvSpPr>
        <p:spPr>
          <a:xfrm>
            <a:off x="3291840" y="2057400"/>
            <a:ext cx="2560320" cy="2468880"/>
          </a:xfrm>
          <a:prstGeom prst="roundRect">
            <a:avLst>
              <a:gd name="adj" fmla="val 4444"/>
            </a:avLst>
          </a:prstGeom>
          <a:solidFill>
            <a:schemeClr val="bg2"/>
          </a:solidFill>
          <a:ln/>
        </p:spPr>
      </p:sp>
      <p:sp>
        <p:nvSpPr>
          <p:cNvPr id="11" name="Significance circle"/>
          <p:cNvSpPr/>
          <p:nvPr/>
        </p:nvSpPr>
        <p:spPr>
          <a:xfrm>
            <a:off x="3474720" y="2194560"/>
            <a:ext cx="502920" cy="502920"/>
          </a:xfrm>
          <a:prstGeom prst="ellipse">
            <a:avLst/>
          </a:prstGeom>
          <a:solidFill>
            <a:schemeClr val="accent2"/>
          </a:solidFill>
          <a:ln/>
        </p:spPr>
      </p:sp>
      <p:pic>
        <p:nvPicPr>
          <p:cNvPr id="12" name="Image 1" descr="Significance">    </p:cNvPr>
          <p:cNvPicPr>
            <a:picLocks noChangeAspect="1"/>
          </p:cNvPicPr>
          <p:nvPr/>
        </p:nvPicPr>
        <p:blipFill>
          <a:blip r:embed="rId2"/>
          <a:stretch>
            <a:fillRect/>
          </a:stretch>
        </p:blipFill>
        <p:spPr>
          <a:xfrm>
            <a:off x="3600450" y="2320290"/>
            <a:ext cx="251460" cy="251460"/>
          </a:xfrm>
          <a:prstGeom prst="rect">
            <a:avLst/>
          </a:prstGeom>
        </p:spPr>
      </p:pic>
      <p:sp>
        <p:nvSpPr>
          <p:cNvPr id="13" name="Text 9"/>
          <p:cNvSpPr txBox="1"/>
          <p:nvPr/>
        </p:nvSpPr>
        <p:spPr>
          <a:xfrm>
            <a:off x="4114800" y="2194560"/>
            <a:ext cx="1645920" cy="502920"/>
          </a:xfrm>
          <a:prstGeom prst="rect">
            <a:avLst/>
          </a:prstGeom>
          <a:noFill/>
          <a:ln/>
        </p:spPr>
        <p:txBody>
          <a:bodyPr wrap="square" lIns="0" tIns="0" rIns="0" bIns="0" rtlCol="0" anchor="ctr"/>
          <a:lstStyle/>
          <a:p>
            <a:pPr indent="0" marL="0">
              <a:buNone/>
            </a:pPr>
            <a:r>
              <a:rPr lang="en-US" sz="1600" b="1" dirty="0">
                <a:solidFill>
                  <a:schemeClr val="tx1"/>
                </a:solidFill>
              </a:rPr>
              <a:t>Significance</a:t>
            </a:r>
            <a:endParaRPr lang="en-US" sz="1600" dirty="0"/>
          </a:p>
        </p:txBody>
      </p:sp>
      <p:sp>
        <p:nvSpPr>
          <p:cNvPr id="14" name="Text 10"/>
          <p:cNvSpPr txBox="1"/>
          <p:nvPr/>
        </p:nvSpPr>
        <p:spPr>
          <a:xfrm>
            <a:off x="3520440" y="2880360"/>
            <a:ext cx="2194560" cy="15544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Adds to knowledge</a:t>
            </a:r>
            <a:endParaRPr lang="en-US" sz="1400" dirty="0"/>
          </a:p>
          <a:p>
            <a:pPr marL="342900" indent="-342900">
              <a:spcAft>
                <a:spcPts val="500"/>
              </a:spcAft>
              <a:buSzPct val="100000"/>
              <a:buChar char="•"/>
            </a:pPr>
            <a:r>
              <a:rPr lang="en-US" sz="1400" dirty="0">
                <a:solidFill>
                  <a:schemeClr val="tx1"/>
                </a:solidFill>
              </a:rPr>
              <a:t>Better decisions</a:t>
            </a:r>
            <a:endParaRPr lang="en-US" sz="1400" dirty="0"/>
          </a:p>
          <a:p>
            <a:pPr marL="342900" indent="-342900">
              <a:spcAft>
                <a:spcPts val="500"/>
              </a:spcAft>
              <a:buSzPct val="100000"/>
              <a:buChar char="•"/>
            </a:pPr>
            <a:r>
              <a:rPr lang="en-US" sz="1400" dirty="0">
                <a:solidFill>
                  <a:schemeClr val="tx1"/>
                </a:solidFill>
              </a:rPr>
              <a:t>Solves real problems</a:t>
            </a:r>
            <a:endParaRPr lang="en-US" sz="1400" dirty="0"/>
          </a:p>
          <a:p>
            <a:pPr marL="342900" indent="-342900">
              <a:spcAft>
                <a:spcPts val="500"/>
              </a:spcAft>
              <a:buSzPct val="100000"/>
              <a:buChar char="•"/>
            </a:pPr>
            <a:r>
              <a:rPr lang="en-US" sz="1400" dirty="0">
                <a:solidFill>
                  <a:schemeClr val="tx1"/>
                </a:solidFill>
              </a:rPr>
              <a:t>Drives technology</a:t>
            </a:r>
            <a:endParaRPr lang="en-US" sz="1400" dirty="0"/>
          </a:p>
        </p:txBody>
      </p:sp>
      <p:sp>
        <p:nvSpPr>
          <p:cNvPr id="15" name="Good Research Is card"/>
          <p:cNvSpPr/>
          <p:nvPr/>
        </p:nvSpPr>
        <p:spPr>
          <a:xfrm>
            <a:off x="6035040" y="2057400"/>
            <a:ext cx="2560320" cy="2468880"/>
          </a:xfrm>
          <a:prstGeom prst="roundRect">
            <a:avLst>
              <a:gd name="adj" fmla="val 4444"/>
            </a:avLst>
          </a:prstGeom>
          <a:solidFill>
            <a:schemeClr val="bg2"/>
          </a:solidFill>
          <a:ln/>
        </p:spPr>
      </p:sp>
      <p:sp>
        <p:nvSpPr>
          <p:cNvPr id="16" name="Good Research Is circle"/>
          <p:cNvSpPr/>
          <p:nvPr/>
        </p:nvSpPr>
        <p:spPr>
          <a:xfrm>
            <a:off x="6217920" y="2194560"/>
            <a:ext cx="502920" cy="502920"/>
          </a:xfrm>
          <a:prstGeom prst="ellipse">
            <a:avLst/>
          </a:prstGeom>
          <a:solidFill>
            <a:schemeClr val="accent2"/>
          </a:solidFill>
          <a:ln/>
        </p:spPr>
      </p:sp>
      <p:pic>
        <p:nvPicPr>
          <p:cNvPr id="17" name="Image 2" descr="Good Research Is">    </p:cNvPr>
          <p:cNvPicPr>
            <a:picLocks noChangeAspect="1"/>
          </p:cNvPicPr>
          <p:nvPr/>
        </p:nvPicPr>
        <p:blipFill>
          <a:blip r:embed="rId3"/>
          <a:stretch>
            <a:fillRect/>
          </a:stretch>
        </p:blipFill>
        <p:spPr>
          <a:xfrm>
            <a:off x="6343650" y="2320290"/>
            <a:ext cx="251460" cy="251460"/>
          </a:xfrm>
          <a:prstGeom prst="rect">
            <a:avLst/>
          </a:prstGeom>
        </p:spPr>
      </p:pic>
      <p:sp>
        <p:nvSpPr>
          <p:cNvPr id="18" name="Text 13"/>
          <p:cNvSpPr txBox="1"/>
          <p:nvPr/>
        </p:nvSpPr>
        <p:spPr>
          <a:xfrm>
            <a:off x="6858000" y="2194560"/>
            <a:ext cx="1645920" cy="502920"/>
          </a:xfrm>
          <a:prstGeom prst="rect">
            <a:avLst/>
          </a:prstGeom>
          <a:noFill/>
          <a:ln/>
        </p:spPr>
        <p:txBody>
          <a:bodyPr wrap="square" lIns="0" tIns="0" rIns="0" bIns="0" rtlCol="0" anchor="ctr"/>
          <a:lstStyle/>
          <a:p>
            <a:pPr indent="0" marL="0">
              <a:buNone/>
            </a:pPr>
            <a:r>
              <a:rPr lang="en-US" sz="1600" b="1" dirty="0">
                <a:solidFill>
                  <a:schemeClr val="tx1"/>
                </a:solidFill>
              </a:rPr>
              <a:t>Good Research Is</a:t>
            </a:r>
            <a:endParaRPr lang="en-US" sz="1600" dirty="0"/>
          </a:p>
        </p:txBody>
      </p:sp>
      <p:sp>
        <p:nvSpPr>
          <p:cNvPr id="19" name="Text 14"/>
          <p:cNvSpPr txBox="1"/>
          <p:nvPr/>
        </p:nvSpPr>
        <p:spPr>
          <a:xfrm>
            <a:off x="6263640" y="2880360"/>
            <a:ext cx="2194560" cy="155448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Systematic and logical</a:t>
            </a:r>
            <a:endParaRPr lang="en-US" sz="1400" dirty="0"/>
          </a:p>
          <a:p>
            <a:pPr marL="342900" indent="-342900">
              <a:spcAft>
                <a:spcPts val="500"/>
              </a:spcAft>
              <a:buSzPct val="100000"/>
              <a:buChar char="•"/>
            </a:pPr>
            <a:r>
              <a:rPr lang="en-US" sz="1400" dirty="0">
                <a:solidFill>
                  <a:schemeClr val="tx1"/>
                </a:solidFill>
              </a:rPr>
              <a:t>Evidence-based</a:t>
            </a:r>
            <a:endParaRPr lang="en-US" sz="1400" dirty="0"/>
          </a:p>
          <a:p>
            <a:pPr marL="342900" indent="-342900">
              <a:spcAft>
                <a:spcPts val="500"/>
              </a:spcAft>
              <a:buSzPct val="100000"/>
              <a:buChar char="•"/>
            </a:pPr>
            <a:r>
              <a:rPr lang="en-US" sz="1400" dirty="0">
                <a:solidFill>
                  <a:schemeClr val="tx1"/>
                </a:solidFill>
              </a:rPr>
              <a:t>Repeatable by others</a:t>
            </a:r>
            <a:endParaRPr lang="en-US" sz="1400" dirty="0"/>
          </a:p>
          <a:p>
            <a:pPr marL="342900" indent="-342900">
              <a:spcAft>
                <a:spcPts val="500"/>
              </a:spcAft>
              <a:buSzPct val="100000"/>
              <a:buChar char="•"/>
            </a:pPr>
            <a:r>
              <a:rPr lang="en-US" sz="1400" dirty="0">
                <a:solidFill>
                  <a:schemeClr val="tx1"/>
                </a:solidFill>
              </a:rPr>
              <a:t>Original and ethical</a:t>
            </a:r>
            <a:endParaRPr lang="en-US" sz="14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From Problem to Variables</a:t>
            </a:r>
            <a:endParaRPr lang="en-US" sz="3400" dirty="0"/>
          </a:p>
        </p:txBody>
      </p:sp>
      <p:sp>
        <p:nvSpPr>
          <p:cNvPr id="3" name="Selecting a Problem card"/>
          <p:cNvSpPr/>
          <p:nvPr/>
        </p:nvSpPr>
        <p:spPr>
          <a:xfrm>
            <a:off x="548640" y="1188720"/>
            <a:ext cx="3931920" cy="1554480"/>
          </a:xfrm>
          <a:prstGeom prst="roundRect">
            <a:avLst>
              <a:gd name="adj" fmla="val 7059"/>
            </a:avLst>
          </a:prstGeom>
          <a:solidFill>
            <a:schemeClr val="bg2"/>
          </a:solidFill>
          <a:ln/>
        </p:spPr>
      </p:sp>
      <p:sp>
        <p:nvSpPr>
          <p:cNvPr id="4" name="Selecting a Problem circle"/>
          <p:cNvSpPr/>
          <p:nvPr/>
        </p:nvSpPr>
        <p:spPr>
          <a:xfrm>
            <a:off x="777240" y="1417320"/>
            <a:ext cx="594360" cy="594360"/>
          </a:xfrm>
          <a:prstGeom prst="ellipse">
            <a:avLst/>
          </a:prstGeom>
          <a:solidFill>
            <a:schemeClr val="accent2"/>
          </a:solidFill>
          <a:ln/>
        </p:spPr>
      </p:sp>
      <p:pic>
        <p:nvPicPr>
          <p:cNvPr id="5" name="Image 0" descr="Selecting a Problem">    </p:cNvPr>
          <p:cNvPicPr>
            <a:picLocks noChangeAspect="1"/>
          </p:cNvPicPr>
          <p:nvPr/>
        </p:nvPicPr>
        <p:blipFill>
          <a:blip r:embed="rId1"/>
          <a:stretch>
            <a:fillRect/>
          </a:stretch>
        </p:blipFill>
        <p:spPr>
          <a:xfrm>
            <a:off x="925830" y="1565910"/>
            <a:ext cx="297180" cy="297180"/>
          </a:xfrm>
          <a:prstGeom prst="rect">
            <a:avLst/>
          </a:prstGeom>
        </p:spPr>
      </p:pic>
      <p:sp>
        <p:nvSpPr>
          <p:cNvPr id="6" name="Text 3"/>
          <p:cNvSpPr txBox="1"/>
          <p:nvPr/>
        </p:nvSpPr>
        <p:spPr>
          <a:xfrm>
            <a:off x="1554480" y="1353312"/>
            <a:ext cx="2743200" cy="365760"/>
          </a:xfrm>
          <a:prstGeom prst="rect">
            <a:avLst/>
          </a:prstGeom>
          <a:noFill/>
          <a:ln/>
        </p:spPr>
        <p:txBody>
          <a:bodyPr wrap="square" lIns="0" tIns="0" rIns="0" bIns="0" rtlCol="0" anchor="ctr"/>
          <a:lstStyle/>
          <a:p>
            <a:pPr indent="0" marL="0">
              <a:buNone/>
            </a:pPr>
            <a:r>
              <a:rPr lang="en-US" sz="1800" b="1" dirty="0">
                <a:solidFill>
                  <a:schemeClr val="tx1"/>
                </a:solidFill>
              </a:rPr>
              <a:t>Selecting a Problem</a:t>
            </a:r>
            <a:endParaRPr lang="en-US" sz="1800" dirty="0"/>
          </a:p>
        </p:txBody>
      </p:sp>
      <p:sp>
        <p:nvSpPr>
          <p:cNvPr id="7" name="Text 4"/>
          <p:cNvSpPr txBox="1"/>
          <p:nvPr/>
        </p:nvSpPr>
        <p:spPr>
          <a:xfrm>
            <a:off x="1554480" y="1783080"/>
            <a:ext cx="2743200" cy="868680"/>
          </a:xfrm>
          <a:prstGeom prst="rect">
            <a:avLst/>
          </a:prstGeom>
          <a:noFill/>
          <a:ln/>
        </p:spPr>
        <p:txBody>
          <a:bodyPr wrap="square" lIns="0" tIns="0" rIns="0" bIns="0" rtlCol="0" anchor="t"/>
          <a:lstStyle/>
          <a:p>
            <a:pPr indent="0" marL="0">
              <a:buNone/>
            </a:pPr>
            <a:r>
              <a:rPr lang="en-US" sz="1400" dirty="0">
                <a:solidFill>
                  <a:schemeClr val="tx1"/>
                </a:solidFill>
              </a:rPr>
              <a:t>Pick a topic that is relevant, original, measurable and doable within your time and budget.</a:t>
            </a:r>
            <a:endParaRPr lang="en-US" sz="1400" dirty="0"/>
          </a:p>
        </p:txBody>
      </p:sp>
      <p:sp>
        <p:nvSpPr>
          <p:cNvPr id="8" name="Problem Statement card"/>
          <p:cNvSpPr/>
          <p:nvPr/>
        </p:nvSpPr>
        <p:spPr>
          <a:xfrm>
            <a:off x="4663440" y="1188720"/>
            <a:ext cx="3931920" cy="1554480"/>
          </a:xfrm>
          <a:prstGeom prst="roundRect">
            <a:avLst>
              <a:gd name="adj" fmla="val 7059"/>
            </a:avLst>
          </a:prstGeom>
          <a:solidFill>
            <a:schemeClr val="bg2"/>
          </a:solidFill>
          <a:ln/>
        </p:spPr>
      </p:sp>
      <p:sp>
        <p:nvSpPr>
          <p:cNvPr id="9" name="Problem Statement circle"/>
          <p:cNvSpPr/>
          <p:nvPr/>
        </p:nvSpPr>
        <p:spPr>
          <a:xfrm>
            <a:off x="4892040" y="1417320"/>
            <a:ext cx="594360" cy="594360"/>
          </a:xfrm>
          <a:prstGeom prst="ellipse">
            <a:avLst/>
          </a:prstGeom>
          <a:solidFill>
            <a:schemeClr val="accent2"/>
          </a:solidFill>
          <a:ln/>
        </p:spPr>
      </p:sp>
      <p:pic>
        <p:nvPicPr>
          <p:cNvPr id="10" name="Image 1" descr="Problem Statement">    </p:cNvPr>
          <p:cNvPicPr>
            <a:picLocks noChangeAspect="1"/>
          </p:cNvPicPr>
          <p:nvPr/>
        </p:nvPicPr>
        <p:blipFill>
          <a:blip r:embed="rId2"/>
          <a:stretch>
            <a:fillRect/>
          </a:stretch>
        </p:blipFill>
        <p:spPr>
          <a:xfrm>
            <a:off x="5040630" y="1565910"/>
            <a:ext cx="297180" cy="297180"/>
          </a:xfrm>
          <a:prstGeom prst="rect">
            <a:avLst/>
          </a:prstGeom>
        </p:spPr>
      </p:pic>
      <p:sp>
        <p:nvSpPr>
          <p:cNvPr id="11" name="Text 7"/>
          <p:cNvSpPr txBox="1"/>
          <p:nvPr/>
        </p:nvSpPr>
        <p:spPr>
          <a:xfrm>
            <a:off x="5669280" y="1353312"/>
            <a:ext cx="2743200" cy="365760"/>
          </a:xfrm>
          <a:prstGeom prst="rect">
            <a:avLst/>
          </a:prstGeom>
          <a:noFill/>
          <a:ln/>
        </p:spPr>
        <p:txBody>
          <a:bodyPr wrap="square" lIns="0" tIns="0" rIns="0" bIns="0" rtlCol="0" anchor="ctr"/>
          <a:lstStyle/>
          <a:p>
            <a:pPr indent="0" marL="0">
              <a:buNone/>
            </a:pPr>
            <a:r>
              <a:rPr lang="en-US" sz="1800" b="1" dirty="0">
                <a:solidFill>
                  <a:schemeClr val="tx1"/>
                </a:solidFill>
              </a:rPr>
              <a:t>Problem Statement</a:t>
            </a:r>
            <a:endParaRPr lang="en-US" sz="1800" dirty="0"/>
          </a:p>
        </p:txBody>
      </p:sp>
      <p:sp>
        <p:nvSpPr>
          <p:cNvPr id="12" name="Text 8"/>
          <p:cNvSpPr txBox="1"/>
          <p:nvPr/>
        </p:nvSpPr>
        <p:spPr>
          <a:xfrm>
            <a:off x="5669280" y="1783080"/>
            <a:ext cx="2743200" cy="868680"/>
          </a:xfrm>
          <a:prstGeom prst="rect">
            <a:avLst/>
          </a:prstGeom>
          <a:noFill/>
          <a:ln/>
        </p:spPr>
        <p:txBody>
          <a:bodyPr wrap="square" lIns="0" tIns="0" rIns="0" bIns="0" rtlCol="0" anchor="t"/>
          <a:lstStyle/>
          <a:p>
            <a:pPr indent="0" marL="0">
              <a:buNone/>
            </a:pPr>
            <a:r>
              <a:rPr lang="en-US" sz="1400" dirty="0">
                <a:solidFill>
                  <a:schemeClr val="tx1"/>
                </a:solidFill>
              </a:rPr>
              <a:t>A short, clear paragraph that says what you will study and why it matters.</a:t>
            </a:r>
            <a:endParaRPr lang="en-US" sz="1400" dirty="0"/>
          </a:p>
        </p:txBody>
      </p:sp>
      <p:sp>
        <p:nvSpPr>
          <p:cNvPr id="13" name="Objectives and Questions card"/>
          <p:cNvSpPr/>
          <p:nvPr/>
        </p:nvSpPr>
        <p:spPr>
          <a:xfrm>
            <a:off x="548640" y="2926080"/>
            <a:ext cx="3931920" cy="1554480"/>
          </a:xfrm>
          <a:prstGeom prst="roundRect">
            <a:avLst>
              <a:gd name="adj" fmla="val 7059"/>
            </a:avLst>
          </a:prstGeom>
          <a:solidFill>
            <a:schemeClr val="bg2"/>
          </a:solidFill>
          <a:ln/>
        </p:spPr>
      </p:sp>
      <p:sp>
        <p:nvSpPr>
          <p:cNvPr id="14" name="Objectives and Questions circle"/>
          <p:cNvSpPr/>
          <p:nvPr/>
        </p:nvSpPr>
        <p:spPr>
          <a:xfrm>
            <a:off x="777240" y="3154680"/>
            <a:ext cx="594360" cy="594360"/>
          </a:xfrm>
          <a:prstGeom prst="ellipse">
            <a:avLst/>
          </a:prstGeom>
          <a:solidFill>
            <a:schemeClr val="accent2"/>
          </a:solidFill>
          <a:ln/>
        </p:spPr>
      </p:sp>
      <p:pic>
        <p:nvPicPr>
          <p:cNvPr id="15" name="Image 2" descr="Objectives and Questions">    </p:cNvPr>
          <p:cNvPicPr>
            <a:picLocks noChangeAspect="1"/>
          </p:cNvPicPr>
          <p:nvPr/>
        </p:nvPicPr>
        <p:blipFill>
          <a:blip r:embed="rId3"/>
          <a:stretch>
            <a:fillRect/>
          </a:stretch>
        </p:blipFill>
        <p:spPr>
          <a:xfrm>
            <a:off x="925830" y="3303270"/>
            <a:ext cx="297180" cy="297180"/>
          </a:xfrm>
          <a:prstGeom prst="rect">
            <a:avLst/>
          </a:prstGeom>
        </p:spPr>
      </p:pic>
      <p:sp>
        <p:nvSpPr>
          <p:cNvPr id="16" name="Text 11"/>
          <p:cNvSpPr txBox="1"/>
          <p:nvPr/>
        </p:nvSpPr>
        <p:spPr>
          <a:xfrm>
            <a:off x="1554480" y="3090672"/>
            <a:ext cx="2743200" cy="365760"/>
          </a:xfrm>
          <a:prstGeom prst="rect">
            <a:avLst/>
          </a:prstGeom>
          <a:noFill/>
          <a:ln/>
        </p:spPr>
        <p:txBody>
          <a:bodyPr wrap="square" lIns="0" tIns="0" rIns="0" bIns="0" rtlCol="0" anchor="ctr"/>
          <a:lstStyle/>
          <a:p>
            <a:pPr indent="0" marL="0">
              <a:buNone/>
            </a:pPr>
            <a:r>
              <a:rPr lang="en-US" sz="1800" b="1" dirty="0">
                <a:solidFill>
                  <a:schemeClr val="tx1"/>
                </a:solidFill>
              </a:rPr>
              <a:t>Objectives and Questions</a:t>
            </a:r>
            <a:endParaRPr lang="en-US" sz="1800" dirty="0"/>
          </a:p>
        </p:txBody>
      </p:sp>
      <p:sp>
        <p:nvSpPr>
          <p:cNvPr id="17" name="Text 12"/>
          <p:cNvSpPr txBox="1"/>
          <p:nvPr/>
        </p:nvSpPr>
        <p:spPr>
          <a:xfrm>
            <a:off x="1554480" y="3520440"/>
            <a:ext cx="2743200" cy="868680"/>
          </a:xfrm>
          <a:prstGeom prst="rect">
            <a:avLst/>
          </a:prstGeom>
          <a:noFill/>
          <a:ln/>
        </p:spPr>
        <p:txBody>
          <a:bodyPr wrap="square" lIns="0" tIns="0" rIns="0" bIns="0" rtlCol="0" anchor="t"/>
          <a:lstStyle/>
          <a:p>
            <a:pPr indent="0" marL="0">
              <a:buNone/>
            </a:pPr>
            <a:r>
              <a:rPr lang="en-US" sz="1400" dirty="0">
                <a:solidFill>
                  <a:schemeClr val="tx1"/>
                </a:solidFill>
              </a:rPr>
              <a:t>Objectives say what you aim to do. Questions say what you want to answer.</a:t>
            </a:r>
            <a:endParaRPr lang="en-US" sz="1400" dirty="0"/>
          </a:p>
        </p:txBody>
      </p:sp>
      <p:sp>
        <p:nvSpPr>
          <p:cNvPr id="18" name="Variables card"/>
          <p:cNvSpPr/>
          <p:nvPr/>
        </p:nvSpPr>
        <p:spPr>
          <a:xfrm>
            <a:off x="4663440" y="2926080"/>
            <a:ext cx="3931920" cy="1554480"/>
          </a:xfrm>
          <a:prstGeom prst="roundRect">
            <a:avLst>
              <a:gd name="adj" fmla="val 7059"/>
            </a:avLst>
          </a:prstGeom>
          <a:solidFill>
            <a:schemeClr val="bg2"/>
          </a:solidFill>
          <a:ln/>
        </p:spPr>
      </p:sp>
      <p:sp>
        <p:nvSpPr>
          <p:cNvPr id="19" name="Variables circle"/>
          <p:cNvSpPr/>
          <p:nvPr/>
        </p:nvSpPr>
        <p:spPr>
          <a:xfrm>
            <a:off x="4892040" y="3154680"/>
            <a:ext cx="594360" cy="594360"/>
          </a:xfrm>
          <a:prstGeom prst="ellipse">
            <a:avLst/>
          </a:prstGeom>
          <a:solidFill>
            <a:schemeClr val="accent2"/>
          </a:solidFill>
          <a:ln/>
        </p:spPr>
      </p:sp>
      <p:pic>
        <p:nvPicPr>
          <p:cNvPr id="20" name="Image 3" descr="Variables">    </p:cNvPr>
          <p:cNvPicPr>
            <a:picLocks noChangeAspect="1"/>
          </p:cNvPicPr>
          <p:nvPr/>
        </p:nvPicPr>
        <p:blipFill>
          <a:blip r:embed="rId4"/>
          <a:stretch>
            <a:fillRect/>
          </a:stretch>
        </p:blipFill>
        <p:spPr>
          <a:xfrm>
            <a:off x="5040630" y="3303270"/>
            <a:ext cx="297180" cy="297180"/>
          </a:xfrm>
          <a:prstGeom prst="rect">
            <a:avLst/>
          </a:prstGeom>
        </p:spPr>
      </p:pic>
      <p:sp>
        <p:nvSpPr>
          <p:cNvPr id="21" name="Text 15"/>
          <p:cNvSpPr txBox="1"/>
          <p:nvPr/>
        </p:nvSpPr>
        <p:spPr>
          <a:xfrm>
            <a:off x="5669280" y="3090672"/>
            <a:ext cx="2743200" cy="365760"/>
          </a:xfrm>
          <a:prstGeom prst="rect">
            <a:avLst/>
          </a:prstGeom>
          <a:noFill/>
          <a:ln/>
        </p:spPr>
        <p:txBody>
          <a:bodyPr wrap="square" lIns="0" tIns="0" rIns="0" bIns="0" rtlCol="0" anchor="ctr"/>
          <a:lstStyle/>
          <a:p>
            <a:pPr indent="0" marL="0">
              <a:buNone/>
            </a:pPr>
            <a:r>
              <a:rPr lang="en-US" sz="1800" b="1" dirty="0">
                <a:solidFill>
                  <a:schemeClr val="tx1"/>
                </a:solidFill>
              </a:rPr>
              <a:t>Variables</a:t>
            </a:r>
            <a:endParaRPr lang="en-US" sz="1800" dirty="0"/>
          </a:p>
        </p:txBody>
      </p:sp>
      <p:sp>
        <p:nvSpPr>
          <p:cNvPr id="22" name="Text 16"/>
          <p:cNvSpPr txBox="1"/>
          <p:nvPr/>
        </p:nvSpPr>
        <p:spPr>
          <a:xfrm>
            <a:off x="5669280" y="3520440"/>
            <a:ext cx="2743200" cy="868680"/>
          </a:xfrm>
          <a:prstGeom prst="rect">
            <a:avLst/>
          </a:prstGeom>
          <a:noFill/>
          <a:ln/>
        </p:spPr>
        <p:txBody>
          <a:bodyPr wrap="square" lIns="0" tIns="0" rIns="0" bIns="0" rtlCol="0" anchor="t"/>
          <a:lstStyle/>
          <a:p>
            <a:pPr indent="0" marL="0">
              <a:buNone/>
            </a:pPr>
            <a:r>
              <a:rPr lang="en-US" sz="1400" dirty="0">
                <a:solidFill>
                  <a:schemeClr val="tx1"/>
                </a:solidFill>
              </a:rPr>
              <a:t>Independent is the cause, dependent is the effect, and control variables stay fixed.</a:t>
            </a:r>
            <a:endParaRPr lang="en-US" sz="14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Hypothesis and Research Proposal</a:t>
            </a:r>
            <a:endParaRPr lang="en-US" sz="3400" dirty="0"/>
          </a:p>
        </p:txBody>
      </p:sp>
      <p:sp>
        <p:nvSpPr>
          <p:cNvPr id="3" name="Hypothesis card"/>
          <p:cNvSpPr/>
          <p:nvPr/>
        </p:nvSpPr>
        <p:spPr>
          <a:xfrm>
            <a:off x="548640" y="1188720"/>
            <a:ext cx="4114800" cy="3337560"/>
          </a:xfrm>
          <a:prstGeom prst="roundRect">
            <a:avLst>
              <a:gd name="adj" fmla="val 3288"/>
            </a:avLst>
          </a:prstGeom>
          <a:solidFill>
            <a:schemeClr val="bg2"/>
          </a:solidFill>
          <a:ln/>
        </p:spPr>
      </p:sp>
      <p:sp>
        <p:nvSpPr>
          <p:cNvPr id="4" name="Hypothesis circle"/>
          <p:cNvSpPr/>
          <p:nvPr/>
        </p:nvSpPr>
        <p:spPr>
          <a:xfrm>
            <a:off x="777240" y="1325880"/>
            <a:ext cx="502920" cy="502920"/>
          </a:xfrm>
          <a:prstGeom prst="ellipse">
            <a:avLst/>
          </a:prstGeom>
          <a:solidFill>
            <a:schemeClr val="accent2"/>
          </a:solidFill>
          <a:ln/>
        </p:spPr>
      </p:sp>
      <p:pic>
        <p:nvPicPr>
          <p:cNvPr id="5" name="Image 0" descr="Hypothesis">    </p:cNvPr>
          <p:cNvPicPr>
            <a:picLocks noChangeAspect="1"/>
          </p:cNvPicPr>
          <p:nvPr/>
        </p:nvPicPr>
        <p:blipFill>
          <a:blip r:embed="rId1"/>
          <a:stretch>
            <a:fillRect/>
          </a:stretch>
        </p:blipFill>
        <p:spPr>
          <a:xfrm>
            <a:off x="902970" y="1451610"/>
            <a:ext cx="251460" cy="251460"/>
          </a:xfrm>
          <a:prstGeom prst="rect">
            <a:avLst/>
          </a:prstGeom>
        </p:spPr>
      </p:pic>
      <p:sp>
        <p:nvSpPr>
          <p:cNvPr id="6" name="Text 3"/>
          <p:cNvSpPr txBox="1"/>
          <p:nvPr/>
        </p:nvSpPr>
        <p:spPr>
          <a:xfrm>
            <a:off x="1463040" y="1325880"/>
            <a:ext cx="2926080" cy="502920"/>
          </a:xfrm>
          <a:prstGeom prst="rect">
            <a:avLst/>
          </a:prstGeom>
          <a:noFill/>
          <a:ln/>
        </p:spPr>
        <p:txBody>
          <a:bodyPr wrap="square" lIns="0" tIns="0" rIns="0" bIns="0" rtlCol="0" anchor="ctr"/>
          <a:lstStyle/>
          <a:p>
            <a:pPr indent="0" marL="0">
              <a:buNone/>
            </a:pPr>
            <a:r>
              <a:rPr lang="en-US" sz="1800" b="1" dirty="0">
                <a:solidFill>
                  <a:schemeClr val="tx1"/>
                </a:solidFill>
              </a:rPr>
              <a:t>Hypothesis</a:t>
            </a:r>
            <a:endParaRPr lang="en-US" sz="1800" dirty="0"/>
          </a:p>
        </p:txBody>
      </p:sp>
      <p:sp>
        <p:nvSpPr>
          <p:cNvPr id="7" name="Text 4"/>
          <p:cNvSpPr txBox="1"/>
          <p:nvPr/>
        </p:nvSpPr>
        <p:spPr>
          <a:xfrm>
            <a:off x="777240" y="1920240"/>
            <a:ext cx="3657600" cy="502920"/>
          </a:xfrm>
          <a:prstGeom prst="rect">
            <a:avLst/>
          </a:prstGeom>
          <a:noFill/>
          <a:ln/>
        </p:spPr>
        <p:txBody>
          <a:bodyPr wrap="square" lIns="0" tIns="0" rIns="0" bIns="0" rtlCol="0" anchor="t"/>
          <a:lstStyle/>
          <a:p>
            <a:pPr indent="0" marL="0">
              <a:buNone/>
            </a:pPr>
            <a:r>
              <a:rPr lang="en-US" sz="1400" dirty="0">
                <a:solidFill>
                  <a:schemeClr val="tx1"/>
                </a:solidFill>
              </a:rPr>
              <a:t>A clear, testable statement about how variables are related.</a:t>
            </a:r>
            <a:endParaRPr lang="en-US" sz="1400" dirty="0"/>
          </a:p>
        </p:txBody>
      </p:sp>
      <p:sp>
        <p:nvSpPr>
          <p:cNvPr id="8" name="Text 5"/>
          <p:cNvSpPr txBox="1"/>
          <p:nvPr/>
        </p:nvSpPr>
        <p:spPr>
          <a:xfrm>
            <a:off x="777240" y="2514600"/>
            <a:ext cx="3657600" cy="100584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Null (H0): there is no effect</a:t>
            </a:r>
            <a:endParaRPr lang="en-US" sz="1400" dirty="0"/>
          </a:p>
          <a:p>
            <a:pPr marL="342900" indent="-342900">
              <a:spcAft>
                <a:spcPts val="500"/>
              </a:spcAft>
              <a:buSzPct val="100000"/>
              <a:buChar char="•"/>
            </a:pPr>
            <a:r>
              <a:rPr lang="en-US" sz="1400" dirty="0">
                <a:solidFill>
                  <a:schemeClr val="tx1"/>
                </a:solidFill>
              </a:rPr>
              <a:t>Alternative (H1): there is an effect</a:t>
            </a:r>
            <a:endParaRPr lang="en-US" sz="1400" dirty="0"/>
          </a:p>
          <a:p>
            <a:pPr marL="342900" indent="-342900">
              <a:spcAft>
                <a:spcPts val="500"/>
              </a:spcAft>
              <a:buSzPct val="100000"/>
              <a:buChar char="•"/>
            </a:pPr>
            <a:r>
              <a:rPr lang="en-US" sz="1400" dirty="0">
                <a:solidFill>
                  <a:schemeClr val="tx1"/>
                </a:solidFill>
              </a:rPr>
              <a:t>Directional or non-directional</a:t>
            </a:r>
            <a:endParaRPr lang="en-US" sz="1400" dirty="0"/>
          </a:p>
        </p:txBody>
      </p:sp>
      <p:sp>
        <p:nvSpPr>
          <p:cNvPr id="9" name="Hypothesis example box"/>
          <p:cNvSpPr/>
          <p:nvPr/>
        </p:nvSpPr>
        <p:spPr>
          <a:xfrm>
            <a:off x="777240" y="3611880"/>
            <a:ext cx="3657600" cy="731520"/>
          </a:xfrm>
          <a:prstGeom prst="roundRect">
            <a:avLst>
              <a:gd name="adj" fmla="val 12500"/>
            </a:avLst>
          </a:prstGeom>
          <a:solidFill>
            <a:schemeClr val="bg1"/>
          </a:solidFill>
          <a:ln/>
        </p:spPr>
      </p:sp>
      <p:sp>
        <p:nvSpPr>
          <p:cNvPr id="10" name="Text 7"/>
          <p:cNvSpPr txBox="1"/>
          <p:nvPr/>
        </p:nvSpPr>
        <p:spPr>
          <a:xfrm>
            <a:off x="868680" y="3611880"/>
            <a:ext cx="3474720" cy="731520"/>
          </a:xfrm>
          <a:prstGeom prst="rect">
            <a:avLst/>
          </a:prstGeom>
          <a:noFill/>
          <a:ln/>
        </p:spPr>
        <p:txBody>
          <a:bodyPr wrap="square" lIns="0" tIns="0" rIns="0" bIns="0" rtlCol="0" anchor="ctr"/>
          <a:lstStyle/>
          <a:p>
            <a:pPr indent="0" marL="0">
              <a:buNone/>
            </a:pPr>
            <a:r>
              <a:rPr lang="en-US" sz="1400" b="1" i="1" dirty="0">
                <a:solidFill>
                  <a:schemeClr val="tx1"/>
                </a:solidFill>
              </a:rPr>
              <a:t>H0: Study hours do not affect marks.</a:t>
            </a:r>
            <a:endParaRPr lang="en-US" sz="1400" dirty="0"/>
          </a:p>
          <a:p>
            <a:pPr indent="0" marL="0">
              <a:buNone/>
            </a:pPr>
            <a:r>
              <a:rPr lang="en-US" sz="1400" b="1" i="1" dirty="0">
                <a:solidFill>
                  <a:schemeClr val="tx1"/>
                </a:solidFill>
              </a:rPr>
              <a:t>H1: More study hours raise marks.</a:t>
            </a:r>
            <a:endParaRPr lang="en-US" sz="1400" dirty="0"/>
          </a:p>
        </p:txBody>
      </p:sp>
      <p:sp>
        <p:nvSpPr>
          <p:cNvPr id="11" name="Proposal card"/>
          <p:cNvSpPr/>
          <p:nvPr/>
        </p:nvSpPr>
        <p:spPr>
          <a:xfrm>
            <a:off x="4846320" y="1188720"/>
            <a:ext cx="3749040" cy="3337560"/>
          </a:xfrm>
          <a:prstGeom prst="roundRect">
            <a:avLst>
              <a:gd name="adj" fmla="val 3288"/>
            </a:avLst>
          </a:prstGeom>
          <a:solidFill>
            <a:schemeClr val="tx1"/>
          </a:solidFill>
          <a:ln/>
          <a:effectLst>
            <a:outerShdw sx="100000" sy="100000" kx="0" ky="0" algn="bl" rotWithShape="0" blurRad="101600" dist="25400" dir="5400000">
              <a:srgbClr val="000000">
                <a:alpha val="12000"/>
              </a:srgbClr>
            </a:outerShdw>
          </a:effectLst>
        </p:spPr>
      </p:sp>
      <p:sp>
        <p:nvSpPr>
          <p:cNvPr id="12" name="Text 9"/>
          <p:cNvSpPr txBox="1"/>
          <p:nvPr/>
        </p:nvSpPr>
        <p:spPr>
          <a:xfrm>
            <a:off x="5120640" y="1371600"/>
            <a:ext cx="320040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PROPOSAL STRUCTURE</a:t>
            </a:r>
            <a:endParaRPr lang="en-US" sz="1200" dirty="0"/>
          </a:p>
        </p:txBody>
      </p:sp>
      <p:sp>
        <p:nvSpPr>
          <p:cNvPr id="13" name="Text 10"/>
          <p:cNvSpPr txBox="1"/>
          <p:nvPr/>
        </p:nvSpPr>
        <p:spPr>
          <a:xfrm>
            <a:off x="5120640" y="1755648"/>
            <a:ext cx="320040" cy="329184"/>
          </a:xfrm>
          <a:prstGeom prst="rect">
            <a:avLst/>
          </a:prstGeom>
          <a:noFill/>
          <a:ln/>
        </p:spPr>
        <p:txBody>
          <a:bodyPr wrap="square" lIns="0" tIns="0" rIns="0" bIns="0" rtlCol="0" anchor="ctr"/>
          <a:lstStyle/>
          <a:p>
            <a:pPr indent="0" marL="0">
              <a:buNone/>
            </a:pPr>
            <a:r>
              <a:rPr lang="en-US" sz="1500" b="1" dirty="0">
                <a:solidFill>
                  <a:schemeClr val="accent1"/>
                </a:solidFill>
              </a:rPr>
              <a:t>1</a:t>
            </a:r>
            <a:endParaRPr lang="en-US" sz="1500" dirty="0"/>
          </a:p>
        </p:txBody>
      </p:sp>
      <p:sp>
        <p:nvSpPr>
          <p:cNvPr id="14" name="Text 11"/>
          <p:cNvSpPr txBox="1"/>
          <p:nvPr/>
        </p:nvSpPr>
        <p:spPr>
          <a:xfrm>
            <a:off x="5486400" y="1755648"/>
            <a:ext cx="2926080" cy="329184"/>
          </a:xfrm>
          <a:prstGeom prst="rect">
            <a:avLst/>
          </a:prstGeom>
          <a:noFill/>
          <a:ln/>
        </p:spPr>
        <p:txBody>
          <a:bodyPr wrap="square" lIns="0" tIns="0" rIns="0" bIns="0" rtlCol="0" anchor="ctr"/>
          <a:lstStyle/>
          <a:p>
            <a:pPr indent="0" marL="0">
              <a:buNone/>
            </a:pPr>
            <a:r>
              <a:rPr lang="en-US" sz="1500" dirty="0">
                <a:solidFill>
                  <a:schemeClr val="bg1"/>
                </a:solidFill>
              </a:rPr>
              <a:t>Title and introduction</a:t>
            </a:r>
            <a:endParaRPr lang="en-US" sz="1500" dirty="0"/>
          </a:p>
        </p:txBody>
      </p:sp>
      <p:sp>
        <p:nvSpPr>
          <p:cNvPr id="15" name="Text 12"/>
          <p:cNvSpPr txBox="1"/>
          <p:nvPr/>
        </p:nvSpPr>
        <p:spPr>
          <a:xfrm>
            <a:off x="5120640" y="2139696"/>
            <a:ext cx="320040" cy="329184"/>
          </a:xfrm>
          <a:prstGeom prst="rect">
            <a:avLst/>
          </a:prstGeom>
          <a:noFill/>
          <a:ln/>
        </p:spPr>
        <p:txBody>
          <a:bodyPr wrap="square" lIns="0" tIns="0" rIns="0" bIns="0" rtlCol="0" anchor="ctr"/>
          <a:lstStyle/>
          <a:p>
            <a:pPr indent="0" marL="0">
              <a:buNone/>
            </a:pPr>
            <a:r>
              <a:rPr lang="en-US" sz="1500" b="1" dirty="0">
                <a:solidFill>
                  <a:schemeClr val="accent1"/>
                </a:solidFill>
              </a:rPr>
              <a:t>2</a:t>
            </a:r>
            <a:endParaRPr lang="en-US" sz="1500" dirty="0"/>
          </a:p>
        </p:txBody>
      </p:sp>
      <p:sp>
        <p:nvSpPr>
          <p:cNvPr id="16" name="Text 13"/>
          <p:cNvSpPr txBox="1"/>
          <p:nvPr/>
        </p:nvSpPr>
        <p:spPr>
          <a:xfrm>
            <a:off x="5486400" y="2139696"/>
            <a:ext cx="2926080" cy="329184"/>
          </a:xfrm>
          <a:prstGeom prst="rect">
            <a:avLst/>
          </a:prstGeom>
          <a:noFill/>
          <a:ln/>
        </p:spPr>
        <p:txBody>
          <a:bodyPr wrap="square" lIns="0" tIns="0" rIns="0" bIns="0" rtlCol="0" anchor="ctr"/>
          <a:lstStyle/>
          <a:p>
            <a:pPr indent="0" marL="0">
              <a:buNone/>
            </a:pPr>
            <a:r>
              <a:rPr lang="en-US" sz="1500" dirty="0">
                <a:solidFill>
                  <a:schemeClr val="bg1"/>
                </a:solidFill>
              </a:rPr>
              <a:t>Problem statement</a:t>
            </a:r>
            <a:endParaRPr lang="en-US" sz="1500" dirty="0"/>
          </a:p>
        </p:txBody>
      </p:sp>
      <p:sp>
        <p:nvSpPr>
          <p:cNvPr id="17" name="Text 14"/>
          <p:cNvSpPr txBox="1"/>
          <p:nvPr/>
        </p:nvSpPr>
        <p:spPr>
          <a:xfrm>
            <a:off x="5120640" y="2523744"/>
            <a:ext cx="320040" cy="329184"/>
          </a:xfrm>
          <a:prstGeom prst="rect">
            <a:avLst/>
          </a:prstGeom>
          <a:noFill/>
          <a:ln/>
        </p:spPr>
        <p:txBody>
          <a:bodyPr wrap="square" lIns="0" tIns="0" rIns="0" bIns="0" rtlCol="0" anchor="ctr"/>
          <a:lstStyle/>
          <a:p>
            <a:pPr indent="0" marL="0">
              <a:buNone/>
            </a:pPr>
            <a:r>
              <a:rPr lang="en-US" sz="1500" b="1" dirty="0">
                <a:solidFill>
                  <a:schemeClr val="accent1"/>
                </a:solidFill>
              </a:rPr>
              <a:t>3</a:t>
            </a:r>
            <a:endParaRPr lang="en-US" sz="1500" dirty="0"/>
          </a:p>
        </p:txBody>
      </p:sp>
      <p:sp>
        <p:nvSpPr>
          <p:cNvPr id="18" name="Text 15"/>
          <p:cNvSpPr txBox="1"/>
          <p:nvPr/>
        </p:nvSpPr>
        <p:spPr>
          <a:xfrm>
            <a:off x="5486400" y="2523744"/>
            <a:ext cx="2926080" cy="329184"/>
          </a:xfrm>
          <a:prstGeom prst="rect">
            <a:avLst/>
          </a:prstGeom>
          <a:noFill/>
          <a:ln/>
        </p:spPr>
        <p:txBody>
          <a:bodyPr wrap="square" lIns="0" tIns="0" rIns="0" bIns="0" rtlCol="0" anchor="ctr"/>
          <a:lstStyle/>
          <a:p>
            <a:pPr indent="0" marL="0">
              <a:buNone/>
            </a:pPr>
            <a:r>
              <a:rPr lang="en-US" sz="1500" dirty="0">
                <a:solidFill>
                  <a:schemeClr val="bg1"/>
                </a:solidFill>
              </a:rPr>
              <a:t>Objectives and hypothesis</a:t>
            </a:r>
            <a:endParaRPr lang="en-US" sz="1500" dirty="0"/>
          </a:p>
        </p:txBody>
      </p:sp>
      <p:sp>
        <p:nvSpPr>
          <p:cNvPr id="19" name="Text 16"/>
          <p:cNvSpPr txBox="1"/>
          <p:nvPr/>
        </p:nvSpPr>
        <p:spPr>
          <a:xfrm>
            <a:off x="5120640" y="2907792"/>
            <a:ext cx="320040" cy="329184"/>
          </a:xfrm>
          <a:prstGeom prst="rect">
            <a:avLst/>
          </a:prstGeom>
          <a:noFill/>
          <a:ln/>
        </p:spPr>
        <p:txBody>
          <a:bodyPr wrap="square" lIns="0" tIns="0" rIns="0" bIns="0" rtlCol="0" anchor="ctr"/>
          <a:lstStyle/>
          <a:p>
            <a:pPr indent="0" marL="0">
              <a:buNone/>
            </a:pPr>
            <a:r>
              <a:rPr lang="en-US" sz="1500" b="1" dirty="0">
                <a:solidFill>
                  <a:schemeClr val="accent1"/>
                </a:solidFill>
              </a:rPr>
              <a:t>4</a:t>
            </a:r>
            <a:endParaRPr lang="en-US" sz="1500" dirty="0"/>
          </a:p>
        </p:txBody>
      </p:sp>
      <p:sp>
        <p:nvSpPr>
          <p:cNvPr id="20" name="Text 17"/>
          <p:cNvSpPr txBox="1"/>
          <p:nvPr/>
        </p:nvSpPr>
        <p:spPr>
          <a:xfrm>
            <a:off x="5486400" y="2907792"/>
            <a:ext cx="2926080" cy="329184"/>
          </a:xfrm>
          <a:prstGeom prst="rect">
            <a:avLst/>
          </a:prstGeom>
          <a:noFill/>
          <a:ln/>
        </p:spPr>
        <p:txBody>
          <a:bodyPr wrap="square" lIns="0" tIns="0" rIns="0" bIns="0" rtlCol="0" anchor="ctr"/>
          <a:lstStyle/>
          <a:p>
            <a:pPr indent="0" marL="0">
              <a:buNone/>
            </a:pPr>
            <a:r>
              <a:rPr lang="en-US" sz="1500" dirty="0">
                <a:solidFill>
                  <a:schemeClr val="bg1"/>
                </a:solidFill>
              </a:rPr>
              <a:t>Literature review</a:t>
            </a:r>
            <a:endParaRPr lang="en-US" sz="1500" dirty="0"/>
          </a:p>
        </p:txBody>
      </p:sp>
      <p:sp>
        <p:nvSpPr>
          <p:cNvPr id="21" name="Text 18"/>
          <p:cNvSpPr txBox="1"/>
          <p:nvPr/>
        </p:nvSpPr>
        <p:spPr>
          <a:xfrm>
            <a:off x="5120640" y="3291840"/>
            <a:ext cx="320040" cy="329184"/>
          </a:xfrm>
          <a:prstGeom prst="rect">
            <a:avLst/>
          </a:prstGeom>
          <a:noFill/>
          <a:ln/>
        </p:spPr>
        <p:txBody>
          <a:bodyPr wrap="square" lIns="0" tIns="0" rIns="0" bIns="0" rtlCol="0" anchor="ctr"/>
          <a:lstStyle/>
          <a:p>
            <a:pPr indent="0" marL="0">
              <a:buNone/>
            </a:pPr>
            <a:r>
              <a:rPr lang="en-US" sz="1500" b="1" dirty="0">
                <a:solidFill>
                  <a:schemeClr val="accent1"/>
                </a:solidFill>
              </a:rPr>
              <a:t>5</a:t>
            </a:r>
            <a:endParaRPr lang="en-US" sz="1500" dirty="0"/>
          </a:p>
        </p:txBody>
      </p:sp>
      <p:sp>
        <p:nvSpPr>
          <p:cNvPr id="22" name="Text 19"/>
          <p:cNvSpPr txBox="1"/>
          <p:nvPr/>
        </p:nvSpPr>
        <p:spPr>
          <a:xfrm>
            <a:off x="5486400" y="3291840"/>
            <a:ext cx="2926080" cy="329184"/>
          </a:xfrm>
          <a:prstGeom prst="rect">
            <a:avLst/>
          </a:prstGeom>
          <a:noFill/>
          <a:ln/>
        </p:spPr>
        <p:txBody>
          <a:bodyPr wrap="square" lIns="0" tIns="0" rIns="0" bIns="0" rtlCol="0" anchor="ctr"/>
          <a:lstStyle/>
          <a:p>
            <a:pPr indent="0" marL="0">
              <a:buNone/>
            </a:pPr>
            <a:r>
              <a:rPr lang="en-US" sz="1500" dirty="0">
                <a:solidFill>
                  <a:schemeClr val="bg1"/>
                </a:solidFill>
              </a:rPr>
              <a:t>Methodology</a:t>
            </a:r>
            <a:endParaRPr lang="en-US" sz="1500" dirty="0"/>
          </a:p>
        </p:txBody>
      </p:sp>
      <p:sp>
        <p:nvSpPr>
          <p:cNvPr id="23" name="Text 20"/>
          <p:cNvSpPr txBox="1"/>
          <p:nvPr/>
        </p:nvSpPr>
        <p:spPr>
          <a:xfrm>
            <a:off x="5120640" y="3675888"/>
            <a:ext cx="320040" cy="329184"/>
          </a:xfrm>
          <a:prstGeom prst="rect">
            <a:avLst/>
          </a:prstGeom>
          <a:noFill/>
          <a:ln/>
        </p:spPr>
        <p:txBody>
          <a:bodyPr wrap="square" lIns="0" tIns="0" rIns="0" bIns="0" rtlCol="0" anchor="ctr"/>
          <a:lstStyle/>
          <a:p>
            <a:pPr indent="0" marL="0">
              <a:buNone/>
            </a:pPr>
            <a:r>
              <a:rPr lang="en-US" sz="1500" b="1" dirty="0">
                <a:solidFill>
                  <a:schemeClr val="accent1"/>
                </a:solidFill>
              </a:rPr>
              <a:t>6</a:t>
            </a:r>
            <a:endParaRPr lang="en-US" sz="1500" dirty="0"/>
          </a:p>
        </p:txBody>
      </p:sp>
      <p:sp>
        <p:nvSpPr>
          <p:cNvPr id="24" name="Text 21"/>
          <p:cNvSpPr txBox="1"/>
          <p:nvPr/>
        </p:nvSpPr>
        <p:spPr>
          <a:xfrm>
            <a:off x="5486400" y="3675888"/>
            <a:ext cx="2926080" cy="329184"/>
          </a:xfrm>
          <a:prstGeom prst="rect">
            <a:avLst/>
          </a:prstGeom>
          <a:noFill/>
          <a:ln/>
        </p:spPr>
        <p:txBody>
          <a:bodyPr wrap="square" lIns="0" tIns="0" rIns="0" bIns="0" rtlCol="0" anchor="ctr"/>
          <a:lstStyle/>
          <a:p>
            <a:pPr indent="0" marL="0">
              <a:buNone/>
            </a:pPr>
            <a:r>
              <a:rPr lang="en-US" sz="1500" dirty="0">
                <a:solidFill>
                  <a:schemeClr val="bg1"/>
                </a:solidFill>
              </a:rPr>
              <a:t>Timeline and budget</a:t>
            </a:r>
            <a:endParaRPr lang="en-US" sz="1500" dirty="0"/>
          </a:p>
        </p:txBody>
      </p:sp>
      <p:sp>
        <p:nvSpPr>
          <p:cNvPr id="25" name="Text 22"/>
          <p:cNvSpPr txBox="1"/>
          <p:nvPr/>
        </p:nvSpPr>
        <p:spPr>
          <a:xfrm>
            <a:off x="5120640" y="4059936"/>
            <a:ext cx="320040" cy="329184"/>
          </a:xfrm>
          <a:prstGeom prst="rect">
            <a:avLst/>
          </a:prstGeom>
          <a:noFill/>
          <a:ln/>
        </p:spPr>
        <p:txBody>
          <a:bodyPr wrap="square" lIns="0" tIns="0" rIns="0" bIns="0" rtlCol="0" anchor="ctr"/>
          <a:lstStyle/>
          <a:p>
            <a:pPr indent="0" marL="0">
              <a:buNone/>
            </a:pPr>
            <a:r>
              <a:rPr lang="en-US" sz="1500" b="1" dirty="0">
                <a:solidFill>
                  <a:schemeClr val="accent1"/>
                </a:solidFill>
              </a:rPr>
              <a:t>7</a:t>
            </a:r>
            <a:endParaRPr lang="en-US" sz="1500" dirty="0"/>
          </a:p>
        </p:txBody>
      </p:sp>
      <p:sp>
        <p:nvSpPr>
          <p:cNvPr id="26" name="Text 23"/>
          <p:cNvSpPr txBox="1"/>
          <p:nvPr/>
        </p:nvSpPr>
        <p:spPr>
          <a:xfrm>
            <a:off x="5486400" y="4059936"/>
            <a:ext cx="2926080" cy="329184"/>
          </a:xfrm>
          <a:prstGeom prst="rect">
            <a:avLst/>
          </a:prstGeom>
          <a:noFill/>
          <a:ln/>
        </p:spPr>
        <p:txBody>
          <a:bodyPr wrap="square" lIns="0" tIns="0" rIns="0" bIns="0" rtlCol="0" anchor="ctr"/>
          <a:lstStyle/>
          <a:p>
            <a:pPr indent="0" marL="0">
              <a:buNone/>
            </a:pPr>
            <a:r>
              <a:rPr lang="en-US" sz="1500" dirty="0">
                <a:solidFill>
                  <a:schemeClr val="bg1"/>
                </a:solidFill>
              </a:rPr>
              <a:t>References</a:t>
            </a:r>
            <a:endParaRPr lang="en-US" sz="15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400" b="1" dirty="0">
                <a:solidFill>
                  <a:schemeClr val="tx1"/>
                </a:solidFill>
              </a:rPr>
              <a:t>Data Collection</a:t>
            </a:r>
            <a:endParaRPr lang="en-US" sz="3400" dirty="0"/>
          </a:p>
        </p:txBody>
      </p:sp>
      <p:sp>
        <p:nvSpPr>
          <p:cNvPr id="3" name="Primary card"/>
          <p:cNvSpPr/>
          <p:nvPr/>
        </p:nvSpPr>
        <p:spPr>
          <a:xfrm>
            <a:off x="548640" y="1188720"/>
            <a:ext cx="3291840" cy="1554480"/>
          </a:xfrm>
          <a:prstGeom prst="roundRect">
            <a:avLst>
              <a:gd name="adj" fmla="val 7059"/>
            </a:avLst>
          </a:prstGeom>
          <a:solidFill>
            <a:schemeClr val="tx1"/>
          </a:solidFill>
          <a:ln/>
          <a:effectLst>
            <a:outerShdw sx="100000" sy="100000" kx="0" ky="0" algn="bl" rotWithShape="0" blurRad="101600" dist="25400" dir="5400000">
              <a:srgbClr val="000000">
                <a:alpha val="12000"/>
              </a:srgbClr>
            </a:outerShdw>
          </a:effectLst>
        </p:spPr>
      </p:sp>
      <p:sp>
        <p:nvSpPr>
          <p:cNvPr id="4" name="Text 2"/>
          <p:cNvSpPr txBox="1"/>
          <p:nvPr/>
        </p:nvSpPr>
        <p:spPr>
          <a:xfrm>
            <a:off x="777240" y="1298448"/>
            <a:ext cx="2834640" cy="365760"/>
          </a:xfrm>
          <a:prstGeom prst="rect">
            <a:avLst/>
          </a:prstGeom>
          <a:noFill/>
          <a:ln/>
        </p:spPr>
        <p:txBody>
          <a:bodyPr wrap="square" lIns="0" tIns="0" rIns="0" bIns="0" rtlCol="0" anchor="ctr"/>
          <a:lstStyle/>
          <a:p>
            <a:pPr indent="0" marL="0">
              <a:buNone/>
            </a:pPr>
            <a:r>
              <a:rPr lang="en-US" sz="1800" b="1" dirty="0">
                <a:solidFill>
                  <a:schemeClr val="accent1"/>
                </a:solidFill>
              </a:rPr>
              <a:t>Primary Data</a:t>
            </a:r>
            <a:endParaRPr lang="en-US" sz="1800" dirty="0"/>
          </a:p>
        </p:txBody>
      </p:sp>
      <p:sp>
        <p:nvSpPr>
          <p:cNvPr id="5" name="Text 3"/>
          <p:cNvSpPr txBox="1"/>
          <p:nvPr/>
        </p:nvSpPr>
        <p:spPr>
          <a:xfrm>
            <a:off x="777240" y="1737360"/>
            <a:ext cx="2834640" cy="868680"/>
          </a:xfrm>
          <a:prstGeom prst="rect">
            <a:avLst/>
          </a:prstGeom>
          <a:noFill/>
          <a:ln/>
        </p:spPr>
        <p:txBody>
          <a:bodyPr wrap="square" lIns="0" tIns="0" rIns="0" bIns="0" rtlCol="0" anchor="t"/>
          <a:lstStyle/>
          <a:p>
            <a:pPr indent="0" marL="0">
              <a:buNone/>
            </a:pPr>
            <a:r>
              <a:rPr lang="en-US" sz="1400" dirty="0">
                <a:solidFill>
                  <a:schemeClr val="bg1"/>
                </a:solidFill>
              </a:rPr>
              <a:t>Collected first-hand by you, such as surveys and interviews.</a:t>
            </a:r>
            <a:endParaRPr lang="en-US" sz="1400" dirty="0"/>
          </a:p>
        </p:txBody>
      </p:sp>
      <p:sp>
        <p:nvSpPr>
          <p:cNvPr id="6" name="Secondary card"/>
          <p:cNvSpPr/>
          <p:nvPr/>
        </p:nvSpPr>
        <p:spPr>
          <a:xfrm>
            <a:off x="548640" y="2971800"/>
            <a:ext cx="3291840" cy="1554480"/>
          </a:xfrm>
          <a:prstGeom prst="roundRect">
            <a:avLst>
              <a:gd name="adj" fmla="val 7059"/>
            </a:avLst>
          </a:prstGeom>
          <a:solidFill>
            <a:schemeClr val="bg2"/>
          </a:solidFill>
          <a:ln/>
        </p:spPr>
      </p:sp>
      <p:sp>
        <p:nvSpPr>
          <p:cNvPr id="7" name="Text 5"/>
          <p:cNvSpPr txBox="1"/>
          <p:nvPr/>
        </p:nvSpPr>
        <p:spPr>
          <a:xfrm>
            <a:off x="777240" y="3081528"/>
            <a:ext cx="2834640" cy="365760"/>
          </a:xfrm>
          <a:prstGeom prst="rect">
            <a:avLst/>
          </a:prstGeom>
          <a:noFill/>
          <a:ln/>
        </p:spPr>
        <p:txBody>
          <a:bodyPr wrap="square" lIns="0" tIns="0" rIns="0" bIns="0" rtlCol="0" anchor="ctr"/>
          <a:lstStyle/>
          <a:p>
            <a:pPr indent="0" marL="0">
              <a:buNone/>
            </a:pPr>
            <a:r>
              <a:rPr lang="en-US" sz="1800" b="1" dirty="0">
                <a:solidFill>
                  <a:schemeClr val="accent2"/>
                </a:solidFill>
              </a:rPr>
              <a:t>Secondary Data</a:t>
            </a:r>
            <a:endParaRPr lang="en-US" sz="1800" dirty="0"/>
          </a:p>
        </p:txBody>
      </p:sp>
      <p:sp>
        <p:nvSpPr>
          <p:cNvPr id="8" name="Text 6"/>
          <p:cNvSpPr txBox="1"/>
          <p:nvPr/>
        </p:nvSpPr>
        <p:spPr>
          <a:xfrm>
            <a:off x="777240" y="3520440"/>
            <a:ext cx="2834640" cy="868680"/>
          </a:xfrm>
          <a:prstGeom prst="rect">
            <a:avLst/>
          </a:prstGeom>
          <a:noFill/>
          <a:ln/>
        </p:spPr>
        <p:txBody>
          <a:bodyPr wrap="square" lIns="0" tIns="0" rIns="0" bIns="0" rtlCol="0" anchor="t"/>
          <a:lstStyle/>
          <a:p>
            <a:pPr indent="0" marL="0">
              <a:buNone/>
            </a:pPr>
            <a:r>
              <a:rPr lang="en-US" sz="1400" dirty="0">
                <a:solidFill>
                  <a:schemeClr val="tx1"/>
                </a:solidFill>
              </a:rPr>
              <a:t>Already collected by others, such as reports, journals and databases.</a:t>
            </a:r>
            <a:endParaRPr lang="en-US" sz="1400" dirty="0"/>
          </a:p>
        </p:txBody>
      </p:sp>
      <p:sp>
        <p:nvSpPr>
          <p:cNvPr id="9" name="Questionnaire card"/>
          <p:cNvSpPr/>
          <p:nvPr/>
        </p:nvSpPr>
        <p:spPr>
          <a:xfrm>
            <a:off x="4023360" y="1188720"/>
            <a:ext cx="2194560" cy="1554480"/>
          </a:xfrm>
          <a:prstGeom prst="roundRect">
            <a:avLst>
              <a:gd name="adj" fmla="val 7059"/>
            </a:avLst>
          </a:prstGeom>
          <a:solidFill>
            <a:schemeClr val="bg2"/>
          </a:solidFill>
          <a:ln/>
        </p:spPr>
      </p:sp>
      <p:sp>
        <p:nvSpPr>
          <p:cNvPr id="10" name="Questionnaire circle"/>
          <p:cNvSpPr/>
          <p:nvPr/>
        </p:nvSpPr>
        <p:spPr>
          <a:xfrm>
            <a:off x="4206240" y="1353312"/>
            <a:ext cx="457200" cy="457200"/>
          </a:xfrm>
          <a:prstGeom prst="ellipse">
            <a:avLst/>
          </a:prstGeom>
          <a:solidFill>
            <a:schemeClr val="accent2"/>
          </a:solidFill>
          <a:ln/>
        </p:spPr>
      </p:sp>
      <p:pic>
        <p:nvPicPr>
          <p:cNvPr id="11" name="Image 0" descr="Questionnaire">    </p:cNvPr>
          <p:cNvPicPr>
            <a:picLocks noChangeAspect="1"/>
          </p:cNvPicPr>
          <p:nvPr/>
        </p:nvPicPr>
        <p:blipFill>
          <a:blip r:embed="rId1"/>
          <a:stretch>
            <a:fillRect/>
          </a:stretch>
        </p:blipFill>
        <p:spPr>
          <a:xfrm>
            <a:off x="4320540" y="1467612"/>
            <a:ext cx="228600" cy="228600"/>
          </a:xfrm>
          <a:prstGeom prst="rect">
            <a:avLst/>
          </a:prstGeom>
        </p:spPr>
      </p:pic>
      <p:sp>
        <p:nvSpPr>
          <p:cNvPr id="12" name="Text 9"/>
          <p:cNvSpPr txBox="1"/>
          <p:nvPr/>
        </p:nvSpPr>
        <p:spPr>
          <a:xfrm>
            <a:off x="4773168" y="1353312"/>
            <a:ext cx="1371600" cy="457200"/>
          </a:xfrm>
          <a:prstGeom prst="rect">
            <a:avLst/>
          </a:prstGeom>
          <a:noFill/>
          <a:ln/>
        </p:spPr>
        <p:txBody>
          <a:bodyPr wrap="square" lIns="0" tIns="0" rIns="0" bIns="0" rtlCol="0" anchor="ctr"/>
          <a:lstStyle/>
          <a:p>
            <a:pPr indent="0" marL="0">
              <a:buNone/>
            </a:pPr>
            <a:r>
              <a:rPr lang="en-US" sz="1500" b="1" dirty="0">
                <a:solidFill>
                  <a:schemeClr val="tx1"/>
                </a:solidFill>
              </a:rPr>
              <a:t>Questionnaire</a:t>
            </a:r>
            <a:endParaRPr lang="en-US" sz="1500" dirty="0"/>
          </a:p>
        </p:txBody>
      </p:sp>
      <p:sp>
        <p:nvSpPr>
          <p:cNvPr id="13" name="Text 10"/>
          <p:cNvSpPr txBox="1"/>
          <p:nvPr/>
        </p:nvSpPr>
        <p:spPr>
          <a:xfrm>
            <a:off x="4206240" y="1938528"/>
            <a:ext cx="1828800" cy="731520"/>
          </a:xfrm>
          <a:prstGeom prst="rect">
            <a:avLst/>
          </a:prstGeom>
          <a:noFill/>
          <a:ln/>
        </p:spPr>
        <p:txBody>
          <a:bodyPr wrap="square" lIns="0" tIns="0" rIns="0" bIns="0" rtlCol="0" anchor="t"/>
          <a:lstStyle/>
          <a:p>
            <a:pPr indent="0" marL="0">
              <a:buNone/>
            </a:pPr>
            <a:r>
              <a:rPr lang="en-US" sz="1400" dirty="0">
                <a:solidFill>
                  <a:schemeClr val="tx1"/>
                </a:solidFill>
              </a:rPr>
              <a:t>A set of written questions for many people.</a:t>
            </a:r>
            <a:endParaRPr lang="en-US" sz="1400" dirty="0"/>
          </a:p>
        </p:txBody>
      </p:sp>
      <p:sp>
        <p:nvSpPr>
          <p:cNvPr id="14" name="Interview card"/>
          <p:cNvSpPr/>
          <p:nvPr/>
        </p:nvSpPr>
        <p:spPr>
          <a:xfrm>
            <a:off x="6400800" y="1188720"/>
            <a:ext cx="2194560" cy="1554480"/>
          </a:xfrm>
          <a:prstGeom prst="roundRect">
            <a:avLst>
              <a:gd name="adj" fmla="val 7059"/>
            </a:avLst>
          </a:prstGeom>
          <a:solidFill>
            <a:schemeClr val="bg2"/>
          </a:solidFill>
          <a:ln/>
        </p:spPr>
      </p:sp>
      <p:sp>
        <p:nvSpPr>
          <p:cNvPr id="15" name="Interview circle"/>
          <p:cNvSpPr/>
          <p:nvPr/>
        </p:nvSpPr>
        <p:spPr>
          <a:xfrm>
            <a:off x="6583680" y="1353312"/>
            <a:ext cx="457200" cy="457200"/>
          </a:xfrm>
          <a:prstGeom prst="ellipse">
            <a:avLst/>
          </a:prstGeom>
          <a:solidFill>
            <a:schemeClr val="accent2"/>
          </a:solidFill>
          <a:ln/>
        </p:spPr>
      </p:sp>
      <p:pic>
        <p:nvPicPr>
          <p:cNvPr id="16" name="Image 1" descr="Interview">    </p:cNvPr>
          <p:cNvPicPr>
            <a:picLocks noChangeAspect="1"/>
          </p:cNvPicPr>
          <p:nvPr/>
        </p:nvPicPr>
        <p:blipFill>
          <a:blip r:embed="rId2"/>
          <a:stretch>
            <a:fillRect/>
          </a:stretch>
        </p:blipFill>
        <p:spPr>
          <a:xfrm>
            <a:off x="6697980" y="1467612"/>
            <a:ext cx="228600" cy="228600"/>
          </a:xfrm>
          <a:prstGeom prst="rect">
            <a:avLst/>
          </a:prstGeom>
        </p:spPr>
      </p:pic>
      <p:sp>
        <p:nvSpPr>
          <p:cNvPr id="17" name="Text 13"/>
          <p:cNvSpPr txBox="1"/>
          <p:nvPr/>
        </p:nvSpPr>
        <p:spPr>
          <a:xfrm>
            <a:off x="7150608" y="1353312"/>
            <a:ext cx="1371600" cy="457200"/>
          </a:xfrm>
          <a:prstGeom prst="rect">
            <a:avLst/>
          </a:prstGeom>
          <a:noFill/>
          <a:ln/>
        </p:spPr>
        <p:txBody>
          <a:bodyPr wrap="square" lIns="0" tIns="0" rIns="0" bIns="0" rtlCol="0" anchor="ctr"/>
          <a:lstStyle/>
          <a:p>
            <a:pPr indent="0" marL="0">
              <a:buNone/>
            </a:pPr>
            <a:r>
              <a:rPr lang="en-US" sz="1500" b="1" dirty="0">
                <a:solidFill>
                  <a:schemeClr val="tx1"/>
                </a:solidFill>
              </a:rPr>
              <a:t>Interview</a:t>
            </a:r>
            <a:endParaRPr lang="en-US" sz="1500" dirty="0"/>
          </a:p>
        </p:txBody>
      </p:sp>
      <p:sp>
        <p:nvSpPr>
          <p:cNvPr id="18" name="Text 14"/>
          <p:cNvSpPr txBox="1"/>
          <p:nvPr/>
        </p:nvSpPr>
        <p:spPr>
          <a:xfrm>
            <a:off x="6583680" y="1938528"/>
            <a:ext cx="1828800" cy="731520"/>
          </a:xfrm>
          <a:prstGeom prst="rect">
            <a:avLst/>
          </a:prstGeom>
          <a:noFill/>
          <a:ln/>
        </p:spPr>
        <p:txBody>
          <a:bodyPr wrap="square" lIns="0" tIns="0" rIns="0" bIns="0" rtlCol="0" anchor="t"/>
          <a:lstStyle/>
          <a:p>
            <a:pPr indent="0" marL="0">
              <a:buNone/>
            </a:pPr>
            <a:r>
              <a:rPr lang="en-US" sz="1400" dirty="0">
                <a:solidFill>
                  <a:schemeClr val="tx1"/>
                </a:solidFill>
              </a:rPr>
              <a:t>A talk, in person or online, for detailed answers.</a:t>
            </a:r>
            <a:endParaRPr lang="en-US" sz="1400" dirty="0"/>
          </a:p>
        </p:txBody>
      </p:sp>
      <p:sp>
        <p:nvSpPr>
          <p:cNvPr id="19" name="Observation card"/>
          <p:cNvSpPr/>
          <p:nvPr/>
        </p:nvSpPr>
        <p:spPr>
          <a:xfrm>
            <a:off x="4023360" y="2971800"/>
            <a:ext cx="2194560" cy="1554480"/>
          </a:xfrm>
          <a:prstGeom prst="roundRect">
            <a:avLst>
              <a:gd name="adj" fmla="val 7059"/>
            </a:avLst>
          </a:prstGeom>
          <a:solidFill>
            <a:schemeClr val="bg2"/>
          </a:solidFill>
          <a:ln/>
        </p:spPr>
      </p:sp>
      <p:sp>
        <p:nvSpPr>
          <p:cNvPr id="20" name="Observation circle"/>
          <p:cNvSpPr/>
          <p:nvPr/>
        </p:nvSpPr>
        <p:spPr>
          <a:xfrm>
            <a:off x="4206240" y="3136392"/>
            <a:ext cx="457200" cy="457200"/>
          </a:xfrm>
          <a:prstGeom prst="ellipse">
            <a:avLst/>
          </a:prstGeom>
          <a:solidFill>
            <a:schemeClr val="accent2"/>
          </a:solidFill>
          <a:ln/>
        </p:spPr>
      </p:sp>
      <p:pic>
        <p:nvPicPr>
          <p:cNvPr id="21" name="Image 2" descr="Observation">    </p:cNvPr>
          <p:cNvPicPr>
            <a:picLocks noChangeAspect="1"/>
          </p:cNvPicPr>
          <p:nvPr/>
        </p:nvPicPr>
        <p:blipFill>
          <a:blip r:embed="rId3"/>
          <a:stretch>
            <a:fillRect/>
          </a:stretch>
        </p:blipFill>
        <p:spPr>
          <a:xfrm>
            <a:off x="4320540" y="3250692"/>
            <a:ext cx="228600" cy="228600"/>
          </a:xfrm>
          <a:prstGeom prst="rect">
            <a:avLst/>
          </a:prstGeom>
        </p:spPr>
      </p:pic>
      <p:sp>
        <p:nvSpPr>
          <p:cNvPr id="22" name="Text 17"/>
          <p:cNvSpPr txBox="1"/>
          <p:nvPr/>
        </p:nvSpPr>
        <p:spPr>
          <a:xfrm>
            <a:off x="4773168" y="3136392"/>
            <a:ext cx="1371600" cy="457200"/>
          </a:xfrm>
          <a:prstGeom prst="rect">
            <a:avLst/>
          </a:prstGeom>
          <a:noFill/>
          <a:ln/>
        </p:spPr>
        <p:txBody>
          <a:bodyPr wrap="square" lIns="0" tIns="0" rIns="0" bIns="0" rtlCol="0" anchor="ctr"/>
          <a:lstStyle/>
          <a:p>
            <a:pPr indent="0" marL="0">
              <a:buNone/>
            </a:pPr>
            <a:r>
              <a:rPr lang="en-US" sz="1500" b="1" dirty="0">
                <a:solidFill>
                  <a:schemeClr val="tx1"/>
                </a:solidFill>
              </a:rPr>
              <a:t>Observation</a:t>
            </a:r>
            <a:endParaRPr lang="en-US" sz="1500" dirty="0"/>
          </a:p>
        </p:txBody>
      </p:sp>
      <p:sp>
        <p:nvSpPr>
          <p:cNvPr id="23" name="Text 18"/>
          <p:cNvSpPr txBox="1"/>
          <p:nvPr/>
        </p:nvSpPr>
        <p:spPr>
          <a:xfrm>
            <a:off x="4206240" y="3721608"/>
            <a:ext cx="1828800" cy="731520"/>
          </a:xfrm>
          <a:prstGeom prst="rect">
            <a:avLst/>
          </a:prstGeom>
          <a:noFill/>
          <a:ln/>
        </p:spPr>
        <p:txBody>
          <a:bodyPr wrap="square" lIns="0" tIns="0" rIns="0" bIns="0" rtlCol="0" anchor="t"/>
          <a:lstStyle/>
          <a:p>
            <a:pPr indent="0" marL="0">
              <a:buNone/>
            </a:pPr>
            <a:r>
              <a:rPr lang="en-US" sz="1400" dirty="0">
                <a:solidFill>
                  <a:schemeClr val="tx1"/>
                </a:solidFill>
              </a:rPr>
              <a:t>Watching and recording behaviour as it happens.</a:t>
            </a:r>
            <a:endParaRPr lang="en-US" sz="1400" dirty="0"/>
          </a:p>
        </p:txBody>
      </p:sp>
      <p:sp>
        <p:nvSpPr>
          <p:cNvPr id="24" name="Experiment card"/>
          <p:cNvSpPr/>
          <p:nvPr/>
        </p:nvSpPr>
        <p:spPr>
          <a:xfrm>
            <a:off x="6400800" y="2971800"/>
            <a:ext cx="2194560" cy="1554480"/>
          </a:xfrm>
          <a:prstGeom prst="roundRect">
            <a:avLst>
              <a:gd name="adj" fmla="val 7059"/>
            </a:avLst>
          </a:prstGeom>
          <a:solidFill>
            <a:schemeClr val="bg2"/>
          </a:solidFill>
          <a:ln/>
        </p:spPr>
      </p:sp>
      <p:sp>
        <p:nvSpPr>
          <p:cNvPr id="25" name="Experiment circle"/>
          <p:cNvSpPr/>
          <p:nvPr/>
        </p:nvSpPr>
        <p:spPr>
          <a:xfrm>
            <a:off x="6583680" y="3136392"/>
            <a:ext cx="457200" cy="457200"/>
          </a:xfrm>
          <a:prstGeom prst="ellipse">
            <a:avLst/>
          </a:prstGeom>
          <a:solidFill>
            <a:schemeClr val="accent2"/>
          </a:solidFill>
          <a:ln/>
        </p:spPr>
      </p:sp>
      <p:pic>
        <p:nvPicPr>
          <p:cNvPr id="26" name="Image 3" descr="Experiment">    </p:cNvPr>
          <p:cNvPicPr>
            <a:picLocks noChangeAspect="1"/>
          </p:cNvPicPr>
          <p:nvPr/>
        </p:nvPicPr>
        <p:blipFill>
          <a:blip r:embed="rId4"/>
          <a:stretch>
            <a:fillRect/>
          </a:stretch>
        </p:blipFill>
        <p:spPr>
          <a:xfrm>
            <a:off x="6697980" y="3250692"/>
            <a:ext cx="228600" cy="228600"/>
          </a:xfrm>
          <a:prstGeom prst="rect">
            <a:avLst/>
          </a:prstGeom>
        </p:spPr>
      </p:pic>
      <p:sp>
        <p:nvSpPr>
          <p:cNvPr id="27" name="Text 21"/>
          <p:cNvSpPr txBox="1"/>
          <p:nvPr/>
        </p:nvSpPr>
        <p:spPr>
          <a:xfrm>
            <a:off x="7150608" y="3136392"/>
            <a:ext cx="1371600" cy="457200"/>
          </a:xfrm>
          <a:prstGeom prst="rect">
            <a:avLst/>
          </a:prstGeom>
          <a:noFill/>
          <a:ln/>
        </p:spPr>
        <p:txBody>
          <a:bodyPr wrap="square" lIns="0" tIns="0" rIns="0" bIns="0" rtlCol="0" anchor="ctr"/>
          <a:lstStyle/>
          <a:p>
            <a:pPr indent="0" marL="0">
              <a:buNone/>
            </a:pPr>
            <a:r>
              <a:rPr lang="en-US" sz="1500" b="1" dirty="0">
                <a:solidFill>
                  <a:schemeClr val="tx1"/>
                </a:solidFill>
              </a:rPr>
              <a:t>Experiment</a:t>
            </a:r>
            <a:endParaRPr lang="en-US" sz="1500" dirty="0"/>
          </a:p>
        </p:txBody>
      </p:sp>
      <p:sp>
        <p:nvSpPr>
          <p:cNvPr id="28" name="Text 22"/>
          <p:cNvSpPr txBox="1"/>
          <p:nvPr/>
        </p:nvSpPr>
        <p:spPr>
          <a:xfrm>
            <a:off x="6583680" y="3721608"/>
            <a:ext cx="1828800" cy="731520"/>
          </a:xfrm>
          <a:prstGeom prst="rect">
            <a:avLst/>
          </a:prstGeom>
          <a:noFill/>
          <a:ln/>
        </p:spPr>
        <p:txBody>
          <a:bodyPr wrap="square" lIns="0" tIns="0" rIns="0" bIns="0" rtlCol="0" anchor="t"/>
          <a:lstStyle/>
          <a:p>
            <a:pPr indent="0" marL="0">
              <a:buNone/>
            </a:pPr>
            <a:r>
              <a:rPr lang="en-US" sz="1400" dirty="0">
                <a:solidFill>
                  <a:schemeClr val="tx1"/>
                </a:solidFill>
              </a:rPr>
              <a:t>Changing one variable to see its effect.</a:t>
            </a:r>
            <a:endParaRPr lang="en-US" sz="1400" dirty="0"/>
          </a:p>
        </p:txBody>
      </p:sp>
      <p:sp>
        <p:nvSpPr>
          <p:cNvPr id="25" name="Slide Number Placeholder 0"/>
          <p:cNvSpPr>
            <a:spLocks noGrp="1"/>
          </p:cNvSpPr>
          <p:nvPr>
            <p:ph type="sldNum" sz="quarter" idx="4294967295"/>
          </p:nvPr>
        </p:nvSpPr>
        <p:spPr>
          <a:xfrm>
            <a:off x="8138160" y="4736592"/>
            <a:ext cx="457200" cy="2286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274320"/>
            <a:ext cx="8046720" cy="731520"/>
          </a:xfrm>
          <a:prstGeom prst="rect">
            <a:avLst/>
          </a:prstGeom>
          <a:noFill/>
          <a:ln/>
        </p:spPr>
        <p:txBody>
          <a:bodyPr wrap="square" lIns="0" tIns="0" rIns="0" bIns="0" rtlCol="0" anchor="ctr"/>
          <a:lstStyle/>
          <a:p>
            <a:pPr algn="l" indent="0" marL="0">
              <a:buNone/>
            </a:pPr>
            <a:r>
              <a:rPr lang="en-US" sz="3400" b="1" dirty="0">
                <a:solidFill>
                  <a:schemeClr val="bg1"/>
                </a:solidFill>
              </a:rPr>
              <a:t>Data Quality and Wrap-up</a:t>
            </a:r>
            <a:endParaRPr lang="en-US" sz="3400" dirty="0"/>
          </a:p>
        </p:txBody>
      </p:sp>
      <p:sp>
        <p:nvSpPr>
          <p:cNvPr id="3" name="Reliability card"/>
          <p:cNvSpPr/>
          <p:nvPr/>
        </p:nvSpPr>
        <p:spPr>
          <a:xfrm>
            <a:off x="548640" y="1188720"/>
            <a:ext cx="2560320" cy="1508760"/>
          </a:xfrm>
          <a:prstGeom prst="roundRect">
            <a:avLst>
              <a:gd name="adj" fmla="val 7273"/>
            </a:avLst>
          </a:prstGeom>
          <a:solidFill>
            <a:schemeClr val="tx2"/>
          </a:solidFill>
          <a:ln/>
        </p:spPr>
      </p:sp>
      <p:sp>
        <p:nvSpPr>
          <p:cNvPr id="4" name="Reliability circle"/>
          <p:cNvSpPr/>
          <p:nvPr/>
        </p:nvSpPr>
        <p:spPr>
          <a:xfrm>
            <a:off x="731520" y="1325880"/>
            <a:ext cx="457200" cy="457200"/>
          </a:xfrm>
          <a:prstGeom prst="ellipse">
            <a:avLst/>
          </a:prstGeom>
          <a:solidFill>
            <a:schemeClr val="accent2"/>
          </a:solidFill>
          <a:ln/>
        </p:spPr>
      </p:sp>
      <p:pic>
        <p:nvPicPr>
          <p:cNvPr id="5" name="Image 0" descr="Reliability">    </p:cNvPr>
          <p:cNvPicPr>
            <a:picLocks noChangeAspect="1"/>
          </p:cNvPicPr>
          <p:nvPr/>
        </p:nvPicPr>
        <p:blipFill>
          <a:blip r:embed="rId1"/>
          <a:stretch>
            <a:fillRect/>
          </a:stretch>
        </p:blipFill>
        <p:spPr>
          <a:xfrm>
            <a:off x="845820" y="1440180"/>
            <a:ext cx="228600" cy="228600"/>
          </a:xfrm>
          <a:prstGeom prst="rect">
            <a:avLst/>
          </a:prstGeom>
        </p:spPr>
      </p:pic>
      <p:sp>
        <p:nvSpPr>
          <p:cNvPr id="6" name="Text 3"/>
          <p:cNvSpPr txBox="1"/>
          <p:nvPr/>
        </p:nvSpPr>
        <p:spPr>
          <a:xfrm>
            <a:off x="1325880" y="1325880"/>
            <a:ext cx="1645920" cy="457200"/>
          </a:xfrm>
          <a:prstGeom prst="rect">
            <a:avLst/>
          </a:prstGeom>
          <a:noFill/>
          <a:ln/>
        </p:spPr>
        <p:txBody>
          <a:bodyPr wrap="square" lIns="0" tIns="0" rIns="0" bIns="0" rtlCol="0" anchor="ctr"/>
          <a:lstStyle/>
          <a:p>
            <a:pPr indent="0" marL="0">
              <a:buNone/>
            </a:pPr>
            <a:r>
              <a:rPr lang="en-US" sz="1600" b="1" dirty="0">
                <a:solidFill>
                  <a:schemeClr val="accent1"/>
                </a:solidFill>
              </a:rPr>
              <a:t>Reliability</a:t>
            </a:r>
            <a:endParaRPr lang="en-US" sz="1600" dirty="0"/>
          </a:p>
        </p:txBody>
      </p:sp>
      <p:sp>
        <p:nvSpPr>
          <p:cNvPr id="7" name="Text 4"/>
          <p:cNvSpPr txBox="1"/>
          <p:nvPr/>
        </p:nvSpPr>
        <p:spPr>
          <a:xfrm>
            <a:off x="731520" y="1920240"/>
            <a:ext cx="2194560" cy="731520"/>
          </a:xfrm>
          <a:prstGeom prst="rect">
            <a:avLst/>
          </a:prstGeom>
          <a:noFill/>
          <a:ln/>
        </p:spPr>
        <p:txBody>
          <a:bodyPr wrap="square" lIns="0" tIns="0" rIns="0" bIns="0" rtlCol="0" anchor="t"/>
          <a:lstStyle/>
          <a:p>
            <a:pPr indent="0" marL="0">
              <a:buNone/>
            </a:pPr>
            <a:r>
              <a:rPr lang="en-US" sz="1400" dirty="0">
                <a:solidFill>
                  <a:schemeClr val="bg1"/>
                </a:solidFill>
              </a:rPr>
              <a:t>Gives consistent results when repeated</a:t>
            </a:r>
            <a:endParaRPr lang="en-US" sz="1400" dirty="0"/>
          </a:p>
        </p:txBody>
      </p:sp>
      <p:sp>
        <p:nvSpPr>
          <p:cNvPr id="8" name="Validity card"/>
          <p:cNvSpPr/>
          <p:nvPr/>
        </p:nvSpPr>
        <p:spPr>
          <a:xfrm>
            <a:off x="3291840" y="1188720"/>
            <a:ext cx="2560320" cy="1508760"/>
          </a:xfrm>
          <a:prstGeom prst="roundRect">
            <a:avLst>
              <a:gd name="adj" fmla="val 7273"/>
            </a:avLst>
          </a:prstGeom>
          <a:solidFill>
            <a:schemeClr val="tx2"/>
          </a:solidFill>
          <a:ln/>
        </p:spPr>
      </p:sp>
      <p:sp>
        <p:nvSpPr>
          <p:cNvPr id="9" name="Validity circle"/>
          <p:cNvSpPr/>
          <p:nvPr/>
        </p:nvSpPr>
        <p:spPr>
          <a:xfrm>
            <a:off x="3474720" y="1325880"/>
            <a:ext cx="457200" cy="457200"/>
          </a:xfrm>
          <a:prstGeom prst="ellipse">
            <a:avLst/>
          </a:prstGeom>
          <a:solidFill>
            <a:schemeClr val="accent3"/>
          </a:solidFill>
          <a:ln/>
        </p:spPr>
      </p:sp>
      <p:pic>
        <p:nvPicPr>
          <p:cNvPr id="10" name="Image 1" descr="Validity">    </p:cNvPr>
          <p:cNvPicPr>
            <a:picLocks noChangeAspect="1"/>
          </p:cNvPicPr>
          <p:nvPr/>
        </p:nvPicPr>
        <p:blipFill>
          <a:blip r:embed="rId2"/>
          <a:stretch>
            <a:fillRect/>
          </a:stretch>
        </p:blipFill>
        <p:spPr>
          <a:xfrm>
            <a:off x="3589020" y="1440180"/>
            <a:ext cx="228600" cy="228600"/>
          </a:xfrm>
          <a:prstGeom prst="rect">
            <a:avLst/>
          </a:prstGeom>
        </p:spPr>
      </p:pic>
      <p:sp>
        <p:nvSpPr>
          <p:cNvPr id="11" name="Text 7"/>
          <p:cNvSpPr txBox="1"/>
          <p:nvPr/>
        </p:nvSpPr>
        <p:spPr>
          <a:xfrm>
            <a:off x="4069080" y="1325880"/>
            <a:ext cx="1645920" cy="457200"/>
          </a:xfrm>
          <a:prstGeom prst="rect">
            <a:avLst/>
          </a:prstGeom>
          <a:noFill/>
          <a:ln/>
        </p:spPr>
        <p:txBody>
          <a:bodyPr wrap="square" lIns="0" tIns="0" rIns="0" bIns="0" rtlCol="0" anchor="ctr"/>
          <a:lstStyle/>
          <a:p>
            <a:pPr indent="0" marL="0">
              <a:buNone/>
            </a:pPr>
            <a:r>
              <a:rPr lang="en-US" sz="1600" b="1" dirty="0">
                <a:solidFill>
                  <a:schemeClr val="accent1"/>
                </a:solidFill>
              </a:rPr>
              <a:t>Validity</a:t>
            </a:r>
            <a:endParaRPr lang="en-US" sz="1600" dirty="0"/>
          </a:p>
        </p:txBody>
      </p:sp>
      <p:sp>
        <p:nvSpPr>
          <p:cNvPr id="12" name="Text 8"/>
          <p:cNvSpPr txBox="1"/>
          <p:nvPr/>
        </p:nvSpPr>
        <p:spPr>
          <a:xfrm>
            <a:off x="3474720" y="1920240"/>
            <a:ext cx="2194560" cy="731520"/>
          </a:xfrm>
          <a:prstGeom prst="rect">
            <a:avLst/>
          </a:prstGeom>
          <a:noFill/>
          <a:ln/>
        </p:spPr>
        <p:txBody>
          <a:bodyPr wrap="square" lIns="0" tIns="0" rIns="0" bIns="0" rtlCol="0" anchor="t"/>
          <a:lstStyle/>
          <a:p>
            <a:pPr indent="0" marL="0">
              <a:buNone/>
            </a:pPr>
            <a:r>
              <a:rPr lang="en-US" sz="1400" dirty="0">
                <a:solidFill>
                  <a:schemeClr val="bg1"/>
                </a:solidFill>
              </a:rPr>
              <a:t>Measures what it is meant to measure</a:t>
            </a:r>
            <a:endParaRPr lang="en-US" sz="1400" dirty="0"/>
          </a:p>
        </p:txBody>
      </p:sp>
      <p:sp>
        <p:nvSpPr>
          <p:cNvPr id="13" name="Bias card"/>
          <p:cNvSpPr/>
          <p:nvPr/>
        </p:nvSpPr>
        <p:spPr>
          <a:xfrm>
            <a:off x="6035040" y="1188720"/>
            <a:ext cx="2560320" cy="1508760"/>
          </a:xfrm>
          <a:prstGeom prst="roundRect">
            <a:avLst>
              <a:gd name="adj" fmla="val 7273"/>
            </a:avLst>
          </a:prstGeom>
          <a:solidFill>
            <a:schemeClr val="tx2"/>
          </a:solidFill>
          <a:ln/>
        </p:spPr>
      </p:sp>
      <p:sp>
        <p:nvSpPr>
          <p:cNvPr id="14" name="Bias circle"/>
          <p:cNvSpPr/>
          <p:nvPr/>
        </p:nvSpPr>
        <p:spPr>
          <a:xfrm>
            <a:off x="6217920" y="1325880"/>
            <a:ext cx="457200" cy="457200"/>
          </a:xfrm>
          <a:prstGeom prst="ellipse">
            <a:avLst/>
          </a:prstGeom>
          <a:solidFill>
            <a:schemeClr val="accent4"/>
          </a:solidFill>
          <a:ln/>
        </p:spPr>
      </p:sp>
      <p:pic>
        <p:nvPicPr>
          <p:cNvPr id="15" name="Image 2" descr="Bias">    </p:cNvPr>
          <p:cNvPicPr>
            <a:picLocks noChangeAspect="1"/>
          </p:cNvPicPr>
          <p:nvPr/>
        </p:nvPicPr>
        <p:blipFill>
          <a:blip r:embed="rId3"/>
          <a:stretch>
            <a:fillRect/>
          </a:stretch>
        </p:blipFill>
        <p:spPr>
          <a:xfrm>
            <a:off x="6332220" y="1440180"/>
            <a:ext cx="228600" cy="228600"/>
          </a:xfrm>
          <a:prstGeom prst="rect">
            <a:avLst/>
          </a:prstGeom>
        </p:spPr>
      </p:pic>
      <p:sp>
        <p:nvSpPr>
          <p:cNvPr id="16" name="Text 11"/>
          <p:cNvSpPr txBox="1"/>
          <p:nvPr/>
        </p:nvSpPr>
        <p:spPr>
          <a:xfrm>
            <a:off x="6812280" y="1325880"/>
            <a:ext cx="1645920" cy="457200"/>
          </a:xfrm>
          <a:prstGeom prst="rect">
            <a:avLst/>
          </a:prstGeom>
          <a:noFill/>
          <a:ln/>
        </p:spPr>
        <p:txBody>
          <a:bodyPr wrap="square" lIns="0" tIns="0" rIns="0" bIns="0" rtlCol="0" anchor="ctr"/>
          <a:lstStyle/>
          <a:p>
            <a:pPr indent="0" marL="0">
              <a:buNone/>
            </a:pPr>
            <a:r>
              <a:rPr lang="en-US" sz="1600" b="1" dirty="0">
                <a:solidFill>
                  <a:schemeClr val="accent1"/>
                </a:solidFill>
              </a:rPr>
              <a:t>Bias</a:t>
            </a:r>
            <a:endParaRPr lang="en-US" sz="1600" dirty="0"/>
          </a:p>
        </p:txBody>
      </p:sp>
      <p:sp>
        <p:nvSpPr>
          <p:cNvPr id="17" name="Text 12"/>
          <p:cNvSpPr txBox="1"/>
          <p:nvPr/>
        </p:nvSpPr>
        <p:spPr>
          <a:xfrm>
            <a:off x="6217920" y="1920240"/>
            <a:ext cx="2194560" cy="731520"/>
          </a:xfrm>
          <a:prstGeom prst="rect">
            <a:avLst/>
          </a:prstGeom>
          <a:noFill/>
          <a:ln/>
        </p:spPr>
        <p:txBody>
          <a:bodyPr wrap="square" lIns="0" tIns="0" rIns="0" bIns="0" rtlCol="0" anchor="t"/>
          <a:lstStyle/>
          <a:p>
            <a:pPr indent="0" marL="0">
              <a:buNone/>
            </a:pPr>
            <a:r>
              <a:rPr lang="en-US" sz="1400" dirty="0">
                <a:solidFill>
                  <a:schemeClr val="bg1"/>
                </a:solidFill>
              </a:rPr>
              <a:t>Unfair influence, such as leading questions or a poor sample</a:t>
            </a:r>
            <a:endParaRPr lang="en-US" sz="1400" dirty="0"/>
          </a:p>
        </p:txBody>
      </p:sp>
      <p:sp>
        <p:nvSpPr>
          <p:cNvPr id="18" name="Organise data band"/>
          <p:cNvSpPr/>
          <p:nvPr/>
        </p:nvSpPr>
        <p:spPr>
          <a:xfrm>
            <a:off x="548640" y="2880360"/>
            <a:ext cx="8046720" cy="868680"/>
          </a:xfrm>
          <a:prstGeom prst="roundRect">
            <a:avLst>
              <a:gd name="adj" fmla="val 12632"/>
            </a:avLst>
          </a:prstGeom>
          <a:solidFill>
            <a:schemeClr val="accent2"/>
          </a:solidFill>
          <a:ln/>
        </p:spPr>
      </p:sp>
      <p:sp>
        <p:nvSpPr>
          <p:cNvPr id="19" name="Organise data circle"/>
          <p:cNvSpPr/>
          <p:nvPr/>
        </p:nvSpPr>
        <p:spPr>
          <a:xfrm>
            <a:off x="777240" y="3081528"/>
            <a:ext cx="457200" cy="457200"/>
          </a:xfrm>
          <a:prstGeom prst="ellipse">
            <a:avLst/>
          </a:prstGeom>
          <a:solidFill>
            <a:schemeClr val="tx1"/>
          </a:solidFill>
          <a:ln/>
        </p:spPr>
      </p:sp>
      <p:pic>
        <p:nvPicPr>
          <p:cNvPr id="20" name="Image 3" descr="Organise data">    </p:cNvPr>
          <p:cNvPicPr>
            <a:picLocks noChangeAspect="1"/>
          </p:cNvPicPr>
          <p:nvPr/>
        </p:nvPicPr>
        <p:blipFill>
          <a:blip r:embed="rId4"/>
          <a:stretch>
            <a:fillRect/>
          </a:stretch>
        </p:blipFill>
        <p:spPr>
          <a:xfrm>
            <a:off x="891540" y="3195828"/>
            <a:ext cx="228600" cy="228600"/>
          </a:xfrm>
          <a:prstGeom prst="rect">
            <a:avLst/>
          </a:prstGeom>
        </p:spPr>
      </p:pic>
      <p:sp>
        <p:nvSpPr>
          <p:cNvPr id="21" name="Text 15"/>
          <p:cNvSpPr txBox="1"/>
          <p:nvPr/>
        </p:nvSpPr>
        <p:spPr>
          <a:xfrm>
            <a:off x="1463040" y="2880360"/>
            <a:ext cx="6949440" cy="868680"/>
          </a:xfrm>
          <a:prstGeom prst="rect">
            <a:avLst/>
          </a:prstGeom>
          <a:noFill/>
          <a:ln/>
        </p:spPr>
        <p:txBody>
          <a:bodyPr wrap="square" lIns="0" tIns="0" rIns="0" bIns="0" rtlCol="0" anchor="ctr"/>
          <a:lstStyle/>
          <a:p>
            <a:pPr indent="0" marL="0">
              <a:buNone/>
            </a:pPr>
            <a:r>
              <a:rPr lang="en-US" sz="1600" b="1" dirty="0">
                <a:solidFill>
                  <a:schemeClr val="bg1"/>
                </a:solidFill>
              </a:rPr>
              <a:t>Organise and document data: clean it, label it clearly, back it up and record every source.</a:t>
            </a:r>
            <a:endParaRPr lang="en-US" sz="1600" dirty="0"/>
          </a:p>
        </p:txBody>
      </p:sp>
      <p:sp>
        <p:nvSpPr>
          <p:cNvPr id="22" name="Text 16"/>
          <p:cNvSpPr txBox="1"/>
          <p:nvPr/>
        </p:nvSpPr>
        <p:spPr>
          <a:xfrm>
            <a:off x="548640" y="3931920"/>
            <a:ext cx="8046720" cy="640080"/>
          </a:xfrm>
          <a:prstGeom prst="rect">
            <a:avLst/>
          </a:prstGeom>
          <a:noFill/>
          <a:ln/>
        </p:spPr>
        <p:txBody>
          <a:bodyPr wrap="square" lIns="0" tIns="0" rIns="0" bIns="0" rtlCol="0" anchor="ctr"/>
          <a:lstStyle/>
          <a:p>
            <a:pPr algn="ctr" indent="0" marL="0">
              <a:buNone/>
            </a:pPr>
            <a:r>
              <a:rPr lang="en-US" sz="2800" b="1" dirty="0">
                <a:solidFill>
                  <a:schemeClr val="accent1"/>
                </a:solidFill>
                <a:latin typeface="+mj-lt" pitchFamily="34" charset="0"/>
                <a:ea typeface="+mj-lt" pitchFamily="34" charset="-122"/>
                <a:cs typeface="+mj-lt" pitchFamily="34" charset="-120"/>
              </a:rPr>
              <a:t>Thank You! Any Questions?</a:t>
            </a:r>
            <a:endParaRPr lang="en-US" sz="2800" dirty="0"/>
          </a:p>
        </p:txBody>
      </p:sp>
    </p:spTree>
  </p:cSld>
  <p:clrMapOvr>
    <a:masterClrMapping/>
  </p:clrMapOvr>
</p:sld>
</file>

<file path=ppt/theme/theme1.xml><?xml version="1.0" encoding="utf-8"?>
<a:theme xmlns:a="http://schemas.openxmlformats.org/drawingml/2006/main" name="Logic Navy">
  <a:themeElements>
    <a:clrScheme name="Logic Navy">
      <a:dk1>
        <a:srgbClr val="14213D"/>
      </a:dk1>
      <a:lt1>
        <a:srgbClr val="FFFFFF"/>
      </a:lt1>
      <a:dk2>
        <a:srgbClr val="2A3F6B"/>
      </a:dk2>
      <a:lt2>
        <a:srgbClr val="EEF2FA"/>
      </a:lt2>
      <a:accent1>
        <a:srgbClr val="E0A526"/>
      </a:accent1>
      <a:accent2>
        <a:srgbClr val="0E8C88"/>
      </a:accent2>
      <a:accent3>
        <a:srgbClr val="3B5BDB"/>
      </a:accent3>
      <a:accent4>
        <a:srgbClr val="E4572E"/>
      </a:accent4>
      <a:accent5>
        <a:srgbClr val="7A5AF8"/>
      </a:accent5>
      <a:accent6>
        <a:srgbClr val="5C6B8A"/>
      </a:accent6>
      <a:hlink>
        <a:srgbClr val="3B5BDB"/>
      </a:hlink>
      <a:folHlink>
        <a:srgbClr val="7A5AF8"/>
      </a:folHlink>
    </a:clrScheme>
    <a:fontScheme name="Logic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Research Methodology: Chapters 1 and 2</dc:title>
  <dc:subject>PptxGenJS Presentation</dc:subject>
  <dc:creator>BCA Semester 7</dc:creator>
  <cp:lastModifiedBy>BCA Semester 7</cp:lastModifiedBy>
  <cp:revision>1</cp:revision>
  <dcterms:created xsi:type="dcterms:W3CDTF">2026-10-03T17:13:15Z</dcterms:created>
  <dcterms:modified xsi:type="dcterms:W3CDTF">2026-10-03T17:13:15Z</dcterms:modified>
</cp:coreProperties>
</file>